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Application de Scraping, RAG &amp; Pilotage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CCEE"/>
                </a:solidFill>
                <a:latin typeface="Calibri"/>
              </a:defRPr>
            </a:pPr>
            <a:r>
              <a:t>Architecture Technique — Projet G1-G2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383280"/>
            <a:ext cx="39319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DEE"/>
                </a:solidFill>
                <a:latin typeface="Calibri"/>
              </a:defRPr>
            </a:pPr>
            <a:r>
              <a:t>Scraping automatisé → Base de données → Chatbot RAG →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Déploiement 100 % local — Aucun hébergement externe nécessaire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Problématique &amp; Objectifs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2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❌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Données industrielles dispersées (Kompass, API gouvernementale)</a:t>
            </a:r>
            <a:br/>
            <a:r>
              <a:t>• Pas d'interface centralisée pour piloter le scraping</a:t>
            </a:r>
            <a:br/>
            <a:r>
              <a:t>• Impossible d'interroger la base en langage naturel</a:t>
            </a:r>
            <a:br/>
            <a:r>
              <a:t>• Mise à jour manuelle et laborieuse de 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✅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Application web unique, tout-en-un</a:t>
            </a:r>
            <a:br/>
            <a:r>
              <a:t>• Scraping paramétrable depuis l'interface</a:t>
            </a:r>
            <a:br/>
            <a:r>
              <a:t>• Chatbot RAG : posez vos questions en français</a:t>
            </a:r>
            <a:br/>
            <a:r>
              <a:t>• Push automatisé vers Power BI en 1 clic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0972800" cy="25603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Objectifs de l'architecture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6070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🔹  Centraliser le pilotage : scraper, base, LLM et Power BI dans la même app</a:t>
            </a:r>
            <a:br/>
            <a:r>
              <a:t>🔹  Flexibilité LLM : utiliser Ollama (local) ou OpenAI/Anthropic (API) au choix</a:t>
            </a:r>
            <a:br/>
            <a:r>
              <a:t>🔹  Évolutivité : ajouter un site ou un champ à scraper sans toucher au code</a:t>
            </a:r>
            <a:br/>
            <a:r>
              <a:t>🔹  Zéro dépendance cloud : tout tourne sur la machine du client</a:t>
            </a:r>
            <a:br/>
            <a:r>
              <a:t>🔹  Passage au serveur possible sans réécriture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Architecture Globale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011680" cy="1645920"/>
          </a:xfrm>
          <a:prstGeom prst="roundRect">
            <a:avLst/>
          </a:prstGeom>
          <a:solidFill>
            <a:srgbClr val="2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🌐 Navigateur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Interface client</a:t>
            </a:r>
            <a:br/>
            <a:r>
              <a:t>Streamlit</a:t>
            </a:r>
            <a:br/>
            <a:r>
              <a:t>http://localhost:8501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B2A4A"/>
                </a:solidFill>
                <a:latin typeface="Calibri"/>
              </a:defRPr>
            </a:pPr>
            <a:r>
              <a:t>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286000" cy="16459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⚡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Calibri"/>
              </a:defRPr>
            </a:pPr>
            <a:r>
              <a:t>Backend principal</a:t>
            </a:r>
            <a:br/>
            <a:r>
              <a:t>API REST</a:t>
            </a:r>
            <a:br/>
            <a:r>
              <a:t>Orchestrateur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2A4A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2560320" cy="201168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🕷️ Scraper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DrissionPage</a:t>
            </a:r>
            <a:br/>
            <a:r>
              <a:t>8 workers parallèles</a:t>
            </a:r>
            <a:br/>
            <a:r>
              <a:t>API gouvernementale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474720"/>
            <a:ext cx="2560320" cy="2011680"/>
          </a:xfrm>
          <a:prstGeom prst="roundRect">
            <a:avLst/>
          </a:prstGeom>
          <a:solidFill>
            <a:srgbClr val="2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611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🗄️ Base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023360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SQLite / PostgreSQL</a:t>
            </a:r>
            <a:br/>
            <a:r>
              <a:t>Entreprises, indicateurs</a:t>
            </a:r>
            <a:br/>
            <a:r>
              <a:t>Config scraping,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2560320" cy="2011680"/>
          </a:xfrm>
          <a:prstGeom prst="round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611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🤖 LLM 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23360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Ollama (local)</a:t>
            </a:r>
            <a:br/>
            <a:r>
              <a:t>OU</a:t>
            </a:r>
            <a:br/>
            <a:r>
              <a:t>OpenAI / Mistral (API)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474720"/>
            <a:ext cx="2560320" cy="2011680"/>
          </a:xfrm>
          <a:prstGeom prst="round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36118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📊 Power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023360"/>
            <a:ext cx="2194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REST API Push</a:t>
            </a:r>
            <a:br/>
            <a:r>
              <a:t>Export .xlsx</a:t>
            </a:r>
            <a:br/>
            <a:r>
              <a:t>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Communication : HTTP / WebSocket (Streamlit) → FastAPI (REST) → Base de données / LLM /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Backend —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   /api/scrape/run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07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Lancer le scraping (tous sites ou site spécifique)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910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     /api/scrape/status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59105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Statut du scraping en cours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56816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751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   /api/scrape/stop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9751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Arrêter le scraping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40864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591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     /api/sites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3591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Lister les sites configurés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24912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43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   /api/sites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743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Ajouter un nouveau site à scraper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08960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272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PUT      /api/sites/{id}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1272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Modifier un site (URL, sélecteurs)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93008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5112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DELETE /api/sites/{id}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5112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Supprimer un site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77056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953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     /api/champs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89534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Lister les champs scrapés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61104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793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   /api/champs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2793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Ajouter un champ à scraper sur tous les sites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645152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663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   /api/chat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Poser une question au LLM (RAG sur la BDD)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474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   /api/powerbi/push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047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Pousser les données vers Power BI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13248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315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GET      /api/config/llm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43153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Récupérer la config LLM actuelle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97296"/>
            <a:ext cx="3474720" cy="320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8155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PUT      /api/config/llm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581558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Changer le mode LLM (local ↔ API)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Interface Utilisateur — Streamlit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51760" cy="32004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📊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Vue d'ensemble</a:t>
            </a:r>
            <a:br/>
            <a:r>
              <a:t>• Nombre d'entreprises scrapées</a:t>
            </a:r>
            <a:br/>
            <a:r>
              <a:t>• Dernier scraping</a:t>
            </a:r>
            <a:br/>
            <a:r>
              <a:t>• Statut des sites</a:t>
            </a:r>
            <a:br/>
            <a:r>
              <a:t>• Accès rapide 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280160"/>
            <a:ext cx="2651760" cy="32004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🕷️ Scraping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86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Pilotage du scraping</a:t>
            </a:r>
            <a:br/>
            <a:r>
              <a:t>• Lancer / Arrêter</a:t>
            </a:r>
            <a:br/>
            <a:r>
              <a:t>• Voir la progression</a:t>
            </a:r>
            <a:br/>
            <a:r>
              <a:t>• Configuration des sites</a:t>
            </a:r>
            <a:br/>
            <a:r>
              <a:t>• Ajouter un site ou champ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651760" cy="32004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💬 Chat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2286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Assistant IA</a:t>
            </a:r>
            <a:br/>
            <a:r>
              <a:t>• Questions en français</a:t>
            </a:r>
            <a:br/>
            <a:r>
              <a:t>• Réponses depuis la BDD</a:t>
            </a:r>
            <a:br/>
            <a:r>
              <a:t>• Choix LLM (local/API)</a:t>
            </a:r>
            <a:br/>
            <a:r>
              <a:t>• Historique des conversations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280160"/>
            <a:ext cx="2651760" cy="32004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⚙️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828800"/>
            <a:ext cx="22860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Paramètres</a:t>
            </a:r>
            <a:br/>
            <a:r>
              <a:t>• Mode LLM (Ollama/OpenAI)</a:t>
            </a:r>
            <a:br/>
            <a:r>
              <a:t>• Clé API (chiffrée)</a:t>
            </a:r>
            <a:br/>
            <a:r>
              <a:t>• Base de données</a:t>
            </a:r>
            <a:br/>
            <a:r>
              <a:t>• Power BI connexion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46320"/>
            <a:ext cx="10972800" cy="16459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Expérience utilisateur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🔹  L'utilisateur ouvre http://localhost:8501 → pas d'installation client</a:t>
            </a:r>
            <a:br/>
            <a:r>
              <a:t>🔹  Navigation par onglets : chaque fonction est accessible en 1 clic</a:t>
            </a:r>
            <a:br/>
            <a:r>
              <a:t>🔹  Formulaire d'ajout de site : URL, nom, type de site → stocké en BDD → scrappé au prochain run</a:t>
            </a:r>
            <a:br/>
            <a:r>
              <a:t>🔹  Formulaire d'ajout de champ : nom, sélecteur CSS → automatiquement scrapé sur tous les sites actifs</a:t>
            </a:r>
            <a:br/>
            <a:r>
              <a:t>🔹  Le chatbot utilise le schéma de la BDD pour traduire les questions en SQL → réponse en français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Moteur de Scraping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200400" cy="164592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834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Lecture de la BDD</a:t>
            </a:r>
            <a:br/>
            <a:r>
              <a:t>• Sites actifs</a:t>
            </a:r>
            <a:br/>
            <a:r>
              <a:t>• Champs à scraper</a:t>
            </a:r>
            <a:br/>
            <a:r>
              <a:t>• Sélecteurs CSS / XPath</a:t>
            </a:r>
            <a:br/>
            <a:r>
              <a:t>• URLs des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B2A4A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00400" cy="1645920"/>
          </a:xfrm>
          <a:prstGeom prst="roundRect">
            <a:avLst/>
          </a:prstGeom>
          <a:solidFill>
            <a:srgbClr val="2D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 Exécution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834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DrissionPage (Chromium)</a:t>
            </a:r>
            <a:br/>
            <a:r>
              <a:t>• 8 workers en parallèle</a:t>
            </a:r>
            <a:br/>
            <a:r>
              <a:t>• Mode EAGER (pas de CSS/images)</a:t>
            </a:r>
            <a:br/>
            <a:r>
              <a:t>• File d'attente + retry</a:t>
            </a:r>
            <a:br/>
            <a:r>
              <a:t>• Anti-blocage intégré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B2A4A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200400" cy="16459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417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 Stockage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2834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Écriture en BDD</a:t>
            </a:r>
            <a:br/>
            <a:r>
              <a:t>• Insertion par lots (batch)</a:t>
            </a:r>
            <a:br/>
            <a:r>
              <a:t>• Déduplication automatique</a:t>
            </a:r>
            <a:br/>
            <a:r>
              <a:t>• Logs d'erreurs</a:t>
            </a:r>
            <a:br/>
            <a:r>
              <a:t>• Mise à jour Power 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10972800" cy="21031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Scraping dynamique — piloté par la configuration en base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0607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L'IA (ou l'utilisateur) peut modifier les tables de configuration → le moteur de scraping s'adapte automatiquement.</a:t>
            </a:r>
            <a:br/>
            <a:br/>
            <a:r>
              <a:t>Exemples :</a:t>
            </a:r>
            <a:br/>
            <a:r>
              <a:t>🔹  Ajouter un site : INSERT INTO sites_scraping → au prochain run, il est scrappé</a:t>
            </a:r>
            <a:br/>
            <a:r>
              <a:t>🔹  Ajouter un champ : INSERT INTO champs_scraping → tous les sites actifs scrappent cette nouvelle donnée</a:t>
            </a:r>
            <a:br/>
            <a:r>
              <a:t>🔹  Désactiver un site : UPDATE sites_scraping SET actif = 0 → ignoré au prochain run</a:t>
            </a:r>
            <a:br/>
            <a:r>
              <a:t>🔹  Modifier un sélecteur : UPDATE champs_scraping SET selecteur_css = '...' → nouveau sélecteur utilisé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Technologie : DrissionPage (Chromium headless) — déjà existante et validée dans le projet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Chatbot RAG — Interrogation en langage naturel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0116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🏠 Mode Local (Ollama)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Modèles : Llama 3, Mistral, Qwen, DeepSeek...</a:t>
            </a:r>
            <a:br/>
            <a:r>
              <a:t>• Aucune connexion internet nécessaire</a:t>
            </a:r>
            <a:br/>
            <a:r>
              <a:t>• Données confidentielles restent sur la machine</a:t>
            </a:r>
            <a:br/>
            <a:r>
              <a:t>• Installation : ollama pull llama3</a:t>
            </a:r>
            <a:br/>
            <a:r>
              <a:t>• Latence : 2-10 secondes selon le modèle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201168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☁️ Mode API (Cloud)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OpenAI (GPT-4o, GPT-4o-mini)</a:t>
            </a:r>
            <a:br/>
            <a:r>
              <a:t>• Mistral API, Anthropic Claude, etc.</a:t>
            </a:r>
            <a:br/>
            <a:r>
              <a:t>• Nécessite une connexion internet</a:t>
            </a:r>
            <a:br/>
            <a:r>
              <a:t>• Clé API stockée localement (chiffrée)</a:t>
            </a:r>
            <a:br/>
            <a:r>
              <a:t>• Latence : 1-3 secondes (plus rapide)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10972800" cy="292608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Fonctionnement du RAG (Retrieval-Augmented Generation)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6070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1.  L'utilisateur pose une question : « Combien d'entreprises ont un CA &gt; 10M€ dans les Hauts-de-France ? »</a:t>
            </a:r>
            <a:br/>
            <a:br/>
            <a:r>
              <a:t>2.  Le système récupère le schéma de la base de données (tables, colonnes, types, commentaires)</a:t>
            </a:r>
            <a:br/>
            <a:br/>
            <a:r>
              <a:t>3.  Le LLM génère une requête SQL à partir de la question + du schéma</a:t>
            </a:r>
            <a:br/>
            <a:br/>
            <a:r>
              <a:t>4.  La requête SQL est exécutée sur la BDD (en lecture seule — sécurisé)</a:t>
            </a:r>
            <a:br/>
            <a:br/>
            <a:r>
              <a:t>5.  Le résultat est passé au LLM qui reformule en français : « 127 entreprises correspondent à vos critères... »</a:t>
            </a:r>
            <a:br/>
            <a:br/>
            <a:r>
              <a:t>6.  La conversation est affichée dans l'interface Streamlit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Base de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21031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📋 entreprises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Données scrappées</a:t>
            </a:r>
            <a:br/>
            <a:r>
              <a:t>• SIRET, SIREN, Raison sociale</a:t>
            </a:r>
            <a:br/>
            <a:r>
              <a:t>• Adresse, Ville, Code postal</a:t>
            </a:r>
            <a:br/>
            <a:r>
              <a:t>• CA, Effectifs, NAF</a:t>
            </a:r>
            <a:br/>
            <a:r>
              <a:t>• Site web, Email, Téléphone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566160" cy="21031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📋 sites_scraping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Configuration scraping</a:t>
            </a:r>
            <a:br/>
            <a:r>
              <a:t>• Nom du site</a:t>
            </a:r>
            <a:br/>
            <a:r>
              <a:t>• URL de base</a:t>
            </a:r>
            <a:br/>
            <a:r>
              <a:t>• Type (Kompass, API...)</a:t>
            </a:r>
            <a:br/>
            <a:r>
              <a:t>• Statut (actif/inactif)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566160" cy="21031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📋 champs_scraping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Champs à extraire</a:t>
            </a:r>
            <a:br/>
            <a:r>
              <a:t>• Nom du champ</a:t>
            </a:r>
            <a:br/>
            <a:r>
              <a:t>• Sélecteur CSS / XPath</a:t>
            </a:r>
            <a:br/>
            <a:r>
              <a:t>• Site associé</a:t>
            </a:r>
            <a:br/>
            <a:r>
              <a:t>• Actif ou non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3566160" cy="21031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📋 logs_erreurs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Traçabilité</a:t>
            </a:r>
            <a:br/>
            <a:r>
              <a:t>• Date et heure</a:t>
            </a:r>
            <a:br/>
            <a:r>
              <a:t>• Site concerné</a:t>
            </a:r>
            <a:br/>
            <a:r>
              <a:t>• Type d'erreur</a:t>
            </a:r>
            <a:br/>
            <a:r>
              <a:t>• Message détaillé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566160"/>
            <a:ext cx="3566160" cy="21031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📋 config_llm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Configuration LLM</a:t>
            </a:r>
            <a:br/>
            <a:r>
              <a:t>• Mode (local/api)</a:t>
            </a:r>
            <a:br/>
            <a:r>
              <a:t>• Endpoint, modèle</a:t>
            </a:r>
            <a:br/>
            <a:r>
              <a:t>• Clé API (chiffrée)</a:t>
            </a:r>
            <a:br/>
            <a:r>
              <a:t>• Prompt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566160"/>
            <a:ext cx="3566160" cy="21031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📋 conversations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1148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Historique chat</a:t>
            </a:r>
            <a:br/>
            <a:r>
              <a:t>• Question utilisateur</a:t>
            </a:r>
            <a:br/>
            <a:r>
              <a:t>• SQL généré</a:t>
            </a:r>
            <a:br/>
            <a:r>
              <a:t>• Réponse</a:t>
            </a:r>
            <a:br/>
            <a:r>
              <a:t>• Timestamp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Base actuelle : SQLite (fichier unique, zéro configuration) → PostgreSQL possible si multi-utilisateur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Intégration Power BI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286000"/>
          </a:xfrm>
          <a:prstGeom prst="roundRect">
            <a:avLst/>
          </a:prstGeom>
          <a:solidFill>
            <a:srgbClr val="007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📤 Push via API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• Power BI REST API (datasets)</a:t>
            </a:r>
            <a:br/>
            <a:r>
              <a:t>• Authentification : Service Principal (Azure AD)</a:t>
            </a:r>
            <a:br/>
            <a:r>
              <a:t>• Push automatique après chaque scraping</a:t>
            </a:r>
            <a:br/>
            <a:r>
              <a:t>• Bouton manuel dans l'interface</a:t>
            </a:r>
            <a:br/>
            <a:r>
              <a:t>• Rafraîchissement sans ouvrir 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📂 Export .xlsx (fallback)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Export Excel déjà existant (Livrable_Final_PowerBI.xlsx)</a:t>
            </a:r>
            <a:br/>
            <a:r>
              <a:t>• Format compatible Power BI Desktop</a:t>
            </a:r>
            <a:br/>
            <a:r>
              <a:t>• Mise en forme automatique</a:t>
            </a:r>
            <a:br/>
            <a:r>
              <a:t>• Mode dégradé si l'API REST n'est pas configurée</a:t>
            </a:r>
            <a:br/>
            <a:r>
              <a:t>* Aucune modification nécessaire côté Power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0972800" cy="25603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Workflow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6070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1.  Le scraping termine → les données sont en BDD locale</a:t>
            </a:r>
            <a:br/>
            <a:r>
              <a:t>2.  L'API Power BI reçoit les données au format JSON</a:t>
            </a:r>
            <a:br/>
            <a:r>
              <a:t>3.  Le dataset Power BI est rafraîchi automatiquement</a:t>
            </a:r>
            <a:br/>
            <a:r>
              <a:t>4.  Les dashboards clients sont à jour sans intervention</a:t>
            </a:r>
            <a:br/>
            <a:br/>
            <a:r>
              <a:t>📌  Avantage : le client n'ouvre jamais Power BI Desktop.</a:t>
            </a:r>
            <a:br/>
            <a:r>
              <a:t>     Tout est piloté depuis l'interface Streamlit.</a:t>
            </a:r>
            <a:br/>
            <a:r>
              <a:t>     Les rapports .pbix sont pré-construits une fois par le développeur.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Flux de Données Complet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Kompass</a:t>
            </a:r>
            <a:br/>
            <a:r>
              <a:t>API Gouv</a:t>
            </a:r>
            <a:br/>
            <a:r>
              <a:t>Autres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8" name="Oval 7"/>
          <p:cNvSpPr/>
          <p:nvPr/>
        </p:nvSpPr>
        <p:spPr>
          <a:xfrm>
            <a:off x="3337560" y="1371600"/>
            <a:ext cx="640080" cy="640080"/>
          </a:xfrm>
          <a:prstGeom prst="ellipse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5F8A"/>
                </a:solidFill>
                <a:latin typeface="Calibri"/>
              </a:defRPr>
            </a:pPr>
            <a:r>
              <a:t>Scraping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DrissionPage</a:t>
            </a:r>
            <a:br/>
            <a:r>
              <a:t>8 workers</a:t>
            </a:r>
            <a:br/>
            <a:r>
              <a:t>parallèles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0" y="1371600"/>
            <a:ext cx="640080" cy="6400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90D9"/>
                </a:solidFill>
                <a:latin typeface="Calibri"/>
              </a:defRPr>
            </a:pPr>
            <a:r>
              <a:t>Traitement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Nettoyage</a:t>
            </a:r>
            <a:br/>
            <a:r>
              <a:t>Déduplication</a:t>
            </a:r>
            <a:br/>
            <a:r>
              <a:t>Normalisation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137160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Stockage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SQLite</a:t>
            </a:r>
            <a:br/>
            <a:r>
              <a:t>(6 tables)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20" name="Oval 19"/>
          <p:cNvSpPr/>
          <p:nvPr/>
        </p:nvSpPr>
        <p:spPr>
          <a:xfrm>
            <a:off x="10332720" y="1371600"/>
            <a:ext cx="640080" cy="64008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6C00"/>
                </a:solidFill>
                <a:latin typeface="Calibri"/>
              </a:defRPr>
            </a:pPr>
            <a:r>
              <a:t>Consommation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5603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Chatbot RAG</a:t>
            </a:r>
            <a:br/>
            <a:r>
              <a:t>Power BI</a:t>
            </a:r>
            <a:br/>
            <a:r>
              <a:t>Export Excel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10972800" cy="2286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Boucle de rétroaction — L'IA peut modifier la 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10607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L'utilisateur (ou l'IA via le chat) peut ajouter/modifier/supprimer des sites et des champs →</a:t>
            </a:r>
            <a:br/>
            <a:r>
              <a:t>la config est stockée en BDD → le prochain scraping les prend en compte → les résultats</a:t>
            </a:r>
            <a:br/>
            <a:r>
              <a:t>sont disponibles dans le chatbot et pushés vers Power BI.</a:t>
            </a:r>
            <a:br/>
            <a:br/>
            <a:r>
              <a:t>Exemple en action :</a:t>
            </a:r>
            <a:br/>
            <a:r>
              <a:t>  👤 « Ajoute le champ 'email' à tous les sites »</a:t>
            </a:r>
            <a:br/>
            <a:r>
              <a:t>  🤖 « INSERT INTO champs_scraping (nom, selecteur_css, actif) VALUES ('email', '...', 1) »</a:t>
            </a:r>
            <a:br/>
            <a:r>
              <a:t>     → Prochain run : email scrapé partout → disponible dans Power BI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Calibri"/>
              </a:defRPr>
            </a:pPr>
            <a:r>
              <a:t>Déploiement Local — Zéro Hébergement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13716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Ce que le client installe (1 fois)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 Python 3.11+ (gratuit)</a:t>
            </a:r>
            <a:br/>
            <a:r>
              <a:t>2. Chrome (déjà présent)</a:t>
            </a:r>
            <a:br/>
            <a:r>
              <a:t>3. pip install -r requirements.txt</a:t>
            </a:r>
            <a:br/>
            <a:r>
              <a:t>4. (Optionnel) Ollama pour LLM local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13716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Ce que le développeur livre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• Le dossier du projet avec tout le code</a:t>
            </a:r>
            <a:br/>
            <a:r>
              <a:t>• Un fichier requirements.txt</a:t>
            </a:r>
            <a:br/>
            <a:r>
              <a:t>• Un script start.bat / start.sh</a:t>
            </a:r>
            <a:br/>
            <a:r>
              <a:t>• Un fichier .env (clés API optionnelles)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5303520" cy="13716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Utilisation quotidienne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1. Double-clic sur start.bat</a:t>
            </a:r>
            <a:br/>
            <a:r>
              <a:t>2. Le navigateur s'ouvre sur l'app</a:t>
            </a:r>
            <a:br/>
            <a:r>
              <a:t>3. Tout est prêt : scraper, chat, Power BI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303520" cy="13716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Architecture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Streamlit → localhost:8501</a:t>
            </a:r>
            <a:br/>
            <a:r>
              <a:t>• FastAPI → localhost:8000</a:t>
            </a:r>
            <a:br/>
            <a:r>
              <a:t>• Ollama (optionnel) → localhost:11434</a:t>
            </a:r>
            <a:br/>
            <a:r>
              <a:t>• Base de données → fichier .db 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10972800" cy="13716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Avantages du déploiement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✅  Aucun abonnement, aucun serveur, aucun hébergeur</a:t>
            </a:r>
            <a:br/>
            <a:r>
              <a:t>✅  Les données restent sur la machine du client (confidentialité)</a:t>
            </a:r>
            <a:br/>
            <a:r>
              <a:t>✅  Fonctionne sans internet (sauf API LLM et Power BI Push)</a:t>
            </a:r>
            <a:br/>
            <a:r>
              <a:t>✅  Passage à un serveur possible sans changer une ligne de code (même FastAPI, même Streamlit)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Questions 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017520"/>
            <a:ext cx="2103120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Calibri"/>
              </a:defRPr>
            </a:pPr>
            <a:r>
              <a:t>Projet G1-G2 — Application de Scraping, RAG &amp; Pilotage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CC"/>
                </a:solidFill>
                <a:latin typeface="Calibri"/>
              </a:defRPr>
            </a:pPr>
            <a:r>
              <a:t>Architecture 100 % locale • Python • FastAPI • Streamlit • DrissionPage • Ollama •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