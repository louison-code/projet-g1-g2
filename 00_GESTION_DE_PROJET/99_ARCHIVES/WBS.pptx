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Play"/>
      <p:regular r:id="rId8"/>
      <p:bold r:id="rId9"/>
    </p:embeddedFont>
    <p:embeddedFont>
      <p:font typeface="Century Gothic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wZBQGoRKSPpKmO1dAtgJK5KOM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bold.fntdata"/><Relationship Id="rId10" Type="http://schemas.openxmlformats.org/officeDocument/2006/relationships/font" Target="fonts/CenturyGothic-regular.fntdata"/><Relationship Id="rId13" Type="http://schemas.openxmlformats.org/officeDocument/2006/relationships/font" Target="fonts/CenturyGothic-boldItalic.fntdata"/><Relationship Id="rId12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lay-bold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4a55c3b69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b4a55c3b69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4ac29178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b4ac29178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g3b4a55c3b69_0_36"/>
          <p:cNvGrpSpPr/>
          <p:nvPr/>
        </p:nvGrpSpPr>
        <p:grpSpPr>
          <a:xfrm>
            <a:off x="98850" y="20"/>
            <a:ext cx="11982461" cy="6450698"/>
            <a:chOff x="164659" y="-744254"/>
            <a:chExt cx="10589891" cy="3877787"/>
          </a:xfrm>
        </p:grpSpPr>
        <p:sp>
          <p:nvSpPr>
            <p:cNvPr id="89" name="Google Shape;89;g3b4a55c3b69_0_36"/>
            <p:cNvSpPr/>
            <p:nvPr/>
          </p:nvSpPr>
          <p:spPr>
            <a:xfrm>
              <a:off x="202625" y="-201687"/>
              <a:ext cx="2071800" cy="388800"/>
            </a:xfrm>
            <a:prstGeom prst="roundRect">
              <a:avLst>
                <a:gd fmla="val 16667" name="adj"/>
              </a:avLst>
            </a:prstGeom>
            <a:solidFill>
              <a:srgbClr val="ACB8C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entury Gothic"/>
                <a:buNone/>
              </a:pPr>
              <a:r>
                <a:rPr lang="en-US" sz="1000">
                  <a:latin typeface="Century Gothic"/>
                  <a:ea typeface="Century Gothic"/>
                  <a:cs typeface="Century Gothic"/>
                  <a:sym typeface="Century Gothic"/>
                </a:rPr>
                <a:t>Cadrage et Conformité (J1)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g3b4a55c3b69_0_36"/>
            <p:cNvSpPr/>
            <p:nvPr/>
          </p:nvSpPr>
          <p:spPr>
            <a:xfrm>
              <a:off x="202618" y="372238"/>
              <a:ext cx="1662300" cy="5598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solidFill>
                    <a:schemeClr val="dk1"/>
                  </a:solidFill>
                </a:rPr>
                <a:t>1.1 </a:t>
              </a:r>
              <a:r>
                <a:rPr lang="en-US" sz="900">
                  <a:solidFill>
                    <a:schemeClr val="dk1"/>
                  </a:solidFill>
                </a:rPr>
                <a:t>Audit légal &amp; éthique : Identification des règles du web (T0.1)</a:t>
              </a:r>
              <a:endParaRPr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g3b4a55c3b69_0_36"/>
            <p:cNvSpPr/>
            <p:nvPr/>
          </p:nvSpPr>
          <p:spPr>
            <a:xfrm>
              <a:off x="164659" y="1117171"/>
              <a:ext cx="1745700" cy="20163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1.1.1 Analyse de conformité RGPD : Identification des données à caractère personnel et définition des bases légales de traitement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1.1.2  Revue des CGU et conformité AI Act : Vérification des conditions d'utilisation des sites cibles et respect des régulations sur l'IA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1.1.3 Définition des quotas éthiques : Fixation des limites de requêtes par seconde pour ne pas perturber les serveurs sources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1.1.4 Rapport de faisabilité: Synthèse finale validant le périmètre de collecte et les risques résiduels.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g3b4a55c3b69_0_36"/>
            <p:cNvSpPr/>
            <p:nvPr/>
          </p:nvSpPr>
          <p:spPr>
            <a:xfrm>
              <a:off x="2349281" y="-201703"/>
              <a:ext cx="4243800" cy="388800"/>
            </a:xfrm>
            <a:prstGeom prst="roundRect">
              <a:avLst>
                <a:gd fmla="val 16667" name="adj"/>
              </a:avLst>
            </a:prstGeom>
            <a:solidFill>
              <a:srgbClr val="ACB8C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00">
                  <a:latin typeface="Century Gothic"/>
                  <a:ea typeface="Century Gothic"/>
                  <a:cs typeface="Century Gothic"/>
                  <a:sym typeface="Century Gothic"/>
                </a:rPr>
                <a:t>Infrastructure et Environnement (J2)</a:t>
              </a:r>
              <a:endParaRPr sz="10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g3b4a55c3b69_0_36"/>
            <p:cNvSpPr/>
            <p:nvPr/>
          </p:nvSpPr>
          <p:spPr>
            <a:xfrm>
              <a:off x="2397301" y="439107"/>
              <a:ext cx="12672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solidFill>
                    <a:schemeClr val="dk1"/>
                  </a:solidFill>
                </a:rPr>
                <a:t>2.1 Configuration de la Base de Données (T1.1)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94" name="Google Shape;94;g3b4a55c3b69_0_36"/>
            <p:cNvSpPr/>
            <p:nvPr/>
          </p:nvSpPr>
          <p:spPr>
            <a:xfrm>
              <a:off x="3787372" y="457021"/>
              <a:ext cx="1267200" cy="524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2.2 Setup de l'Environnement de Développement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g3b4a55c3b69_0_36"/>
            <p:cNvSpPr/>
            <p:nvPr/>
          </p:nvSpPr>
          <p:spPr>
            <a:xfrm>
              <a:off x="5456995" y="484032"/>
              <a:ext cx="10050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2.3 Déploiement et Cloud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g3b4a55c3b69_0_36"/>
            <p:cNvSpPr/>
            <p:nvPr/>
          </p:nvSpPr>
          <p:spPr>
            <a:xfrm>
              <a:off x="1982136" y="1117233"/>
              <a:ext cx="1614300" cy="20163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2.1.1 Choix technologique hybride : Mise en place d'une base relationnelle (SQL) et d'une base vectorielle pour les besoins de l'IA.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2.1.2 Modélisation du schéma : Conception des tables pour les adresses, les entreprises et les métadonnées d'enrichissement.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2.1.3 Optimisation des index : Configuration des clés et index pour garantir des temps de réponse rapides sur plus de 1 000 entrées.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2.1.4 Stress test de stockage : Validation de l'intégrité du système lors de l'injection massive de données de test.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7" name="Google Shape;97;g3b4a55c3b69_0_36"/>
            <p:cNvSpPr/>
            <p:nvPr/>
          </p:nvSpPr>
          <p:spPr>
            <a:xfrm>
              <a:off x="3662118" y="1117276"/>
              <a:ext cx="1517700" cy="12930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2.2.1 Installation de la Stack IA : Configuration de Python avec les librairies d'extraction (Scrapy) et de traitement (LangChain).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2.2.2 Système de versioning : Initialisation du repository Git avec une structure de branches pour le travail collaboratif..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" name="Google Shape;98;g3b4a55c3b69_0_36"/>
            <p:cNvSpPr/>
            <p:nvPr/>
          </p:nvSpPr>
          <p:spPr>
            <a:xfrm>
              <a:off x="5302220" y="1117171"/>
              <a:ext cx="1326900" cy="19119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2.3.1 Provisionnement serveur : Configuration des instances Cloud adaptées à l'exécution de scripts intensifs.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2.3.2 Sécurisation réseau : Mise en place d'un pare-feu, de protocoles SSH sécurisés et d'un VPN si nécessaire.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2.3.3 Monitoring des coûts : Installation d'un tableau de bord pour suivre la consommation des ressources et des tokens API.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99" name="Google Shape;99;g3b4a55c3b69_0_36"/>
            <p:cNvCxnSpPr>
              <a:stCxn id="93" idx="2"/>
            </p:cNvCxnSpPr>
            <p:nvPr/>
          </p:nvCxnSpPr>
          <p:spPr>
            <a:xfrm>
              <a:off x="3030901" y="909207"/>
              <a:ext cx="14700" cy="20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" name="Google Shape;100;g3b4a55c3b69_0_36"/>
            <p:cNvCxnSpPr>
              <a:stCxn id="95" idx="2"/>
              <a:endCxn id="98" idx="0"/>
            </p:cNvCxnSpPr>
            <p:nvPr/>
          </p:nvCxnSpPr>
          <p:spPr>
            <a:xfrm>
              <a:off x="5959495" y="954132"/>
              <a:ext cx="6300" cy="16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" name="Google Shape;101;g3b4a55c3b69_0_36"/>
            <p:cNvSpPr/>
            <p:nvPr/>
          </p:nvSpPr>
          <p:spPr>
            <a:xfrm>
              <a:off x="6685229" y="-201688"/>
              <a:ext cx="4056300" cy="388800"/>
            </a:xfrm>
            <a:prstGeom prst="roundRect">
              <a:avLst>
                <a:gd fmla="val 16667" name="adj"/>
              </a:avLst>
            </a:prstGeom>
            <a:solidFill>
              <a:srgbClr val="ACB8C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entury Gothic"/>
                <a:buNone/>
              </a:pPr>
              <a:r>
                <a:rPr lang="en-US" sz="1000">
                  <a:latin typeface="Century Gothic"/>
                  <a:ea typeface="Century Gothic"/>
                  <a:cs typeface="Century Gothic"/>
                  <a:sym typeface="Century Gothic"/>
                </a:rPr>
                <a:t>Jalon 3 : Développement du Moteur de Collecte IA (J3)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g3b4a55c3b69_0_36"/>
            <p:cNvSpPr/>
            <p:nvPr/>
          </p:nvSpPr>
          <p:spPr>
            <a:xfrm>
              <a:off x="6883842" y="439112"/>
              <a:ext cx="10050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3.1 Ingénierie d'Extraction de Données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3" name="Google Shape;103;g3b4a55c3b69_0_36"/>
            <p:cNvSpPr/>
            <p:nvPr/>
          </p:nvSpPr>
          <p:spPr>
            <a:xfrm>
              <a:off x="8227960" y="484033"/>
              <a:ext cx="1207500" cy="3888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3.2 Développement des Scrapers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" name="Google Shape;104;g3b4a55c3b69_0_36"/>
            <p:cNvSpPr/>
            <p:nvPr/>
          </p:nvSpPr>
          <p:spPr>
            <a:xfrm>
              <a:off x="9644554" y="484020"/>
              <a:ext cx="10971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3.3 Fiabilisation du Système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g3b4a55c3b69_0_36"/>
            <p:cNvSpPr/>
            <p:nvPr/>
          </p:nvSpPr>
          <p:spPr>
            <a:xfrm>
              <a:off x="6685229" y="1117173"/>
              <a:ext cx="1402200" cy="17538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3.1.1 Identification des sélecteurs : Cartographie des balises HTML critiques pour l'extraction des informations cibles.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3.1.2 Design de Prompts d'extraction : Création de prompts LLM pour transformer du texte brut non structuré en format JSON propre..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3.1.3 Validation des échantillons : Test de l'extraction sur un panel réduit pour vérifier la qualité des données remontées.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6" name="Google Shape;106;g3b4a55c3b69_0_36"/>
            <p:cNvSpPr/>
            <p:nvPr/>
          </p:nvSpPr>
          <p:spPr>
            <a:xfrm>
              <a:off x="8166891" y="1117173"/>
              <a:ext cx="1362900" cy="18006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3.2.1 Architecture des robots : Programmation des scripts de navigation automatisée (Playwright ou Selenium).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3.2.2 Pipeline de traitement IA : Intégration de l'appel LLM au sein de la boucle de collecte pour le nettoyage immédiat.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3.2.3 Gestion de la pagination : Développement de la logique de parcours des listes et des défilements infinis.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7" name="Google Shape;107;g3b4a55c3b69_0_36"/>
            <p:cNvSpPr/>
            <p:nvPr/>
          </p:nvSpPr>
          <p:spPr>
            <a:xfrm>
              <a:off x="9631650" y="1109311"/>
              <a:ext cx="1122900" cy="14091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3.3.1 Gestion des exceptions : Développement d'un système de "Retry" intelligent en cas d'erreur réseau ou de timeout..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3.3.2 Détection de changement DOM : Alerte automatique si la structure d'un site cible est modifiée.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108" name="Google Shape;108;g3b4a55c3b69_0_36"/>
            <p:cNvCxnSpPr>
              <a:stCxn id="101" idx="2"/>
              <a:endCxn id="102" idx="0"/>
            </p:cNvCxnSpPr>
            <p:nvPr/>
          </p:nvCxnSpPr>
          <p:spPr>
            <a:xfrm rot="5400000">
              <a:off x="7923929" y="-350338"/>
              <a:ext cx="252000" cy="13269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" name="Google Shape;109;g3b4a55c3b69_0_36"/>
            <p:cNvCxnSpPr>
              <a:stCxn id="101" idx="2"/>
              <a:endCxn id="104" idx="0"/>
            </p:cNvCxnSpPr>
            <p:nvPr/>
          </p:nvCxnSpPr>
          <p:spPr>
            <a:xfrm flipH="1" rot="-5400000">
              <a:off x="9304679" y="-404188"/>
              <a:ext cx="297000" cy="1479600"/>
            </a:xfrm>
            <a:prstGeom prst="bentConnector3">
              <a:avLst>
                <a:gd fmla="val 42885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" name="Google Shape;110;g3b4a55c3b69_0_36"/>
            <p:cNvCxnSpPr>
              <a:stCxn id="102" idx="2"/>
              <a:endCxn id="105" idx="0"/>
            </p:cNvCxnSpPr>
            <p:nvPr/>
          </p:nvCxnSpPr>
          <p:spPr>
            <a:xfrm>
              <a:off x="7386342" y="909212"/>
              <a:ext cx="0" cy="207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g3b4a55c3b69_0_36"/>
            <p:cNvCxnSpPr>
              <a:stCxn id="103" idx="2"/>
              <a:endCxn id="106" idx="0"/>
            </p:cNvCxnSpPr>
            <p:nvPr/>
          </p:nvCxnSpPr>
          <p:spPr>
            <a:xfrm>
              <a:off x="8831710" y="872833"/>
              <a:ext cx="16500" cy="244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g3b4a55c3b69_0_36"/>
            <p:cNvCxnSpPr>
              <a:stCxn id="104" idx="2"/>
              <a:endCxn id="107" idx="0"/>
            </p:cNvCxnSpPr>
            <p:nvPr/>
          </p:nvCxnSpPr>
          <p:spPr>
            <a:xfrm>
              <a:off x="10193104" y="954120"/>
              <a:ext cx="0" cy="15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3" name="Google Shape;113;g3b4a55c3b69_0_36"/>
            <p:cNvSpPr/>
            <p:nvPr/>
          </p:nvSpPr>
          <p:spPr>
            <a:xfrm>
              <a:off x="3827239" y="-744254"/>
              <a:ext cx="3702900" cy="388800"/>
            </a:xfrm>
            <a:prstGeom prst="roundRect">
              <a:avLst>
                <a:gd fmla="val 0" name="adj"/>
              </a:avLst>
            </a:prstGeom>
            <a:solidFill>
              <a:srgbClr val="8296B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None/>
              </a:pPr>
              <a:r>
                <a:rPr lang="en-US" sz="1100">
                  <a:latin typeface="Century Gothic"/>
                  <a:ea typeface="Century Gothic"/>
                  <a:cs typeface="Century Gothic"/>
                  <a:sym typeface="Century Gothic"/>
                </a:rPr>
                <a:t>Enrichissement et automatisation de la collecte de données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4" name="Google Shape;114;g3b4a55c3b69_0_36"/>
            <p:cNvCxnSpPr>
              <a:stCxn id="113" idx="2"/>
              <a:endCxn id="89" idx="0"/>
            </p:cNvCxnSpPr>
            <p:nvPr/>
          </p:nvCxnSpPr>
          <p:spPr>
            <a:xfrm rot="5400000">
              <a:off x="3381589" y="-2498654"/>
              <a:ext cx="153900" cy="4440300"/>
            </a:xfrm>
            <a:prstGeom prst="bentConnector3">
              <a:avLst>
                <a:gd fmla="val 49964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g3b4a55c3b69_0_36"/>
            <p:cNvCxnSpPr>
              <a:stCxn id="113" idx="2"/>
              <a:endCxn id="92" idx="0"/>
            </p:cNvCxnSpPr>
            <p:nvPr/>
          </p:nvCxnSpPr>
          <p:spPr>
            <a:xfrm rot="5400000">
              <a:off x="4997989" y="-882254"/>
              <a:ext cx="153900" cy="1207500"/>
            </a:xfrm>
            <a:prstGeom prst="bentConnector3">
              <a:avLst>
                <a:gd fmla="val 49959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" name="Google Shape;116;g3b4a55c3b69_0_36"/>
            <p:cNvCxnSpPr>
              <a:stCxn id="113" idx="2"/>
              <a:endCxn id="101" idx="0"/>
            </p:cNvCxnSpPr>
            <p:nvPr/>
          </p:nvCxnSpPr>
          <p:spPr>
            <a:xfrm flipH="1" rot="-5400000">
              <a:off x="7119139" y="-1795904"/>
              <a:ext cx="153900" cy="3034800"/>
            </a:xfrm>
            <a:prstGeom prst="bentConnector3">
              <a:avLst>
                <a:gd fmla="val 49963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7" name="Google Shape;117;g3b4a55c3b69_0_36"/>
          <p:cNvCxnSpPr>
            <a:stCxn id="94" idx="2"/>
            <a:endCxn id="97" idx="0"/>
          </p:cNvCxnSpPr>
          <p:nvPr/>
        </p:nvCxnSpPr>
        <p:spPr>
          <a:xfrm>
            <a:off x="4914868" y="2870182"/>
            <a:ext cx="0" cy="22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" name="Google Shape;118;g3b4a55c3b69_0_36"/>
          <p:cNvCxnSpPr/>
          <p:nvPr/>
        </p:nvCxnSpPr>
        <p:spPr>
          <a:xfrm>
            <a:off x="1353571" y="1554013"/>
            <a:ext cx="2400" cy="30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g3b4a55c3b69_0_36"/>
          <p:cNvCxnSpPr/>
          <p:nvPr/>
        </p:nvCxnSpPr>
        <p:spPr>
          <a:xfrm flipH="1" rot="-5400000">
            <a:off x="5603551" y="963919"/>
            <a:ext cx="494100" cy="1674300"/>
          </a:xfrm>
          <a:prstGeom prst="bentConnector3">
            <a:avLst>
              <a:gd fmla="val 441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" name="Google Shape;120;g3b4a55c3b69_0_36"/>
          <p:cNvCxnSpPr/>
          <p:nvPr/>
        </p:nvCxnSpPr>
        <p:spPr>
          <a:xfrm rot="5400000">
            <a:off x="4053151" y="1012819"/>
            <a:ext cx="419100" cy="150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g3b4a55c3b69_0_36"/>
          <p:cNvCxnSpPr>
            <a:stCxn id="90" idx="2"/>
            <a:endCxn id="91" idx="0"/>
          </p:cNvCxnSpPr>
          <p:nvPr/>
        </p:nvCxnSpPr>
        <p:spPr>
          <a:xfrm>
            <a:off x="1082246" y="2788531"/>
            <a:ext cx="4200" cy="30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g3b4a55c3b69_0_36"/>
          <p:cNvCxnSpPr/>
          <p:nvPr/>
        </p:nvCxnSpPr>
        <p:spPr>
          <a:xfrm>
            <a:off x="9839500" y="1743250"/>
            <a:ext cx="3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"/>
          <p:cNvGrpSpPr/>
          <p:nvPr/>
        </p:nvGrpSpPr>
        <p:grpSpPr>
          <a:xfrm>
            <a:off x="103925" y="16"/>
            <a:ext cx="13634094" cy="11553780"/>
            <a:chOff x="169144" y="-744254"/>
            <a:chExt cx="12049575" cy="6945464"/>
          </a:xfrm>
        </p:grpSpPr>
        <p:sp>
          <p:nvSpPr>
            <p:cNvPr id="128" name="Google Shape;128;p1"/>
            <p:cNvSpPr/>
            <p:nvPr/>
          </p:nvSpPr>
          <p:spPr>
            <a:xfrm>
              <a:off x="202625" y="-201687"/>
              <a:ext cx="2071800" cy="388800"/>
            </a:xfrm>
            <a:prstGeom prst="roundRect">
              <a:avLst>
                <a:gd fmla="val 16667" name="adj"/>
              </a:avLst>
            </a:prstGeom>
            <a:solidFill>
              <a:srgbClr val="ACB8C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</a:rPr>
                <a:t>Enrichissement et Livraison (J4)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entury Gothic"/>
                <a:buNone/>
              </a:pPr>
              <a:r>
                <a:t/>
              </a:r>
              <a:endParaRPr sz="10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02618" y="394250"/>
              <a:ext cx="2071800" cy="5598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00">
                  <a:solidFill>
                    <a:schemeClr val="dk1"/>
                  </a:solidFill>
                </a:rPr>
                <a:t>4.1 Nettoyage et Normalisation IA</a:t>
              </a:r>
              <a:endParaRPr b="1" sz="13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169144" y="1117172"/>
              <a:ext cx="1662300" cy="20163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</a:rPr>
                <a:t>4.1.1 Déduplication sémantique : Utilisation de l'IA pour repérer les doublons même si les noms varient légèrement.</a:t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</a:rPr>
                <a:t>4.1.2 Normalisation des formats : Uniformisation automatique des numéros de téléphone et des codes postaux.</a:t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</a:rPr>
                <a:t>4.1.3 Correction orthographique : Nettoyage des erreurs de saisie détectées sur les sites sources via LLM.</a:t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</a:rPr>
                <a:t>4.1.4 Filtrage de qualité : Élimination automatique des entrées incomplètes ou jugées non pertinentes.</a:t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</a:rPr>
                <a:t>4.1.5 Standardisation des champs : Alignement de toutes les données collectées sur le modèle de la base de données finale.</a:t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1" name="Google Shape;131;p1"/>
            <p:cNvCxnSpPr>
              <a:stCxn id="128" idx="2"/>
              <a:endCxn id="129" idx="0"/>
            </p:cNvCxnSpPr>
            <p:nvPr/>
          </p:nvCxnSpPr>
          <p:spPr>
            <a:xfrm flipH="1" rot="-5400000">
              <a:off x="1135175" y="290463"/>
              <a:ext cx="207000" cy="300"/>
            </a:xfrm>
            <a:prstGeom prst="bentConnector3">
              <a:avLst>
                <a:gd fmla="val 50033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1"/>
            <p:cNvCxnSpPr>
              <a:stCxn id="129" idx="2"/>
              <a:endCxn id="130" idx="0"/>
            </p:cNvCxnSpPr>
            <p:nvPr/>
          </p:nvCxnSpPr>
          <p:spPr>
            <a:xfrm flipH="1">
              <a:off x="1000318" y="954050"/>
              <a:ext cx="238200" cy="163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3" name="Google Shape;133;p1"/>
            <p:cNvSpPr/>
            <p:nvPr/>
          </p:nvSpPr>
          <p:spPr>
            <a:xfrm>
              <a:off x="4059363" y="3761383"/>
              <a:ext cx="2071800" cy="316800"/>
            </a:xfrm>
            <a:prstGeom prst="roundRect">
              <a:avLst>
                <a:gd fmla="val 16667" name="adj"/>
              </a:avLst>
            </a:prstGeom>
            <a:solidFill>
              <a:srgbClr val="ACB8C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800"/>
                </a:spcBef>
                <a:spcAft>
                  <a:spcPts val="4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Contrôle Qualité et Optimisation (J5)</a:t>
              </a:r>
              <a:endParaRPr sz="7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2274417" y="539074"/>
              <a:ext cx="20718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00">
                  <a:solidFill>
                    <a:schemeClr val="dk1"/>
                  </a:solidFill>
                </a:rPr>
                <a:t>4.2 Enrichissement et Scoring</a:t>
              </a:r>
              <a:endParaRPr b="1" sz="13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497359" y="457032"/>
              <a:ext cx="1195800" cy="524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4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00">
                  <a:solidFill>
                    <a:schemeClr val="dk1"/>
                  </a:solidFill>
                </a:rPr>
                <a:t>4.3 Automatisation et Export</a:t>
              </a:r>
              <a:endParaRPr b="1"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5896268" y="3949549"/>
              <a:ext cx="10050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00">
                  <a:solidFill>
                    <a:schemeClr val="dk1"/>
                  </a:solidFill>
                </a:rPr>
                <a:t>5.1 Task : Tests et Recette Technique </a:t>
              </a:r>
              <a:endParaRPr b="1" sz="13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982136" y="1117233"/>
              <a:ext cx="1614300" cy="21048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4.2.1 Appels APIs externes : Complétion des profils via des sources tierces (LinkedIn, Google, annuaires).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4.2.2 Classification sectorielle : Attribution automatique d'une catégorie d'activité à chaque adresse collectée.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4.2.3 Datage et Provenance : Marquage de chaque donnée avec sa source d'origine et sa date de dernière vérification.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3714018" y="1117234"/>
              <a:ext cx="1494300" cy="22143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4.3.1 Planification : Configuration des tâches Cron pour automatiser le lancement des collectes.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4.3.2 Tunnel d'exportation : Développement des connecteurs vers les formats finaux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4.3.3 Dashboard de livraison : Création d'une interface simple pour visualiser le volume et la qualité des données collectées.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7108274" y="4289310"/>
              <a:ext cx="1267200" cy="19119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2.3.1 Provisionnement serveur : Configuration des instances Cloud adaptéesà exécution de scripts intensifs.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2.3.2 Sécurisation réseau : Mise en place d'un pare-feu, de protocoles SSH sécurisés et d'un VPN si nécessaire.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2.3.3 Monitoring des coûts : Installation d'un tableau de bord pour suivre la consommation des ressources et des tokens API.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140" name="Google Shape;140;p1"/>
            <p:cNvCxnSpPr>
              <a:stCxn id="134" idx="0"/>
            </p:cNvCxnSpPr>
            <p:nvPr/>
          </p:nvCxnSpPr>
          <p:spPr>
            <a:xfrm rot="10800000">
              <a:off x="1094817" y="187174"/>
              <a:ext cx="2215500" cy="35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1"/>
            <p:cNvCxnSpPr>
              <a:stCxn id="134" idx="2"/>
              <a:endCxn id="137" idx="0"/>
            </p:cNvCxnSpPr>
            <p:nvPr/>
          </p:nvCxnSpPr>
          <p:spPr>
            <a:xfrm flipH="1">
              <a:off x="2789217" y="1009174"/>
              <a:ext cx="521100" cy="1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1"/>
            <p:cNvCxnSpPr>
              <a:stCxn id="135" idx="2"/>
              <a:endCxn id="138" idx="0"/>
            </p:cNvCxnSpPr>
            <p:nvPr/>
          </p:nvCxnSpPr>
          <p:spPr>
            <a:xfrm flipH="1">
              <a:off x="4461059" y="981132"/>
              <a:ext cx="634200" cy="136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1"/>
            <p:cNvCxnSpPr>
              <a:stCxn id="136" idx="2"/>
              <a:endCxn id="139" idx="0"/>
            </p:cNvCxnSpPr>
            <p:nvPr/>
          </p:nvCxnSpPr>
          <p:spPr>
            <a:xfrm flipH="1" rot="10800000">
              <a:off x="6398768" y="4289449"/>
              <a:ext cx="1343100" cy="13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4" name="Google Shape;144;p1"/>
            <p:cNvSpPr/>
            <p:nvPr/>
          </p:nvSpPr>
          <p:spPr>
            <a:xfrm>
              <a:off x="8239205" y="-201686"/>
              <a:ext cx="2071800" cy="388800"/>
            </a:xfrm>
            <a:prstGeom prst="roundRect">
              <a:avLst>
                <a:gd fmla="val 16667" name="adj"/>
              </a:avLst>
            </a:prstGeom>
            <a:solidFill>
              <a:srgbClr val="ACB8C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Contrôle Qualité et Optimisation (J5)</a:t>
              </a:r>
              <a:endParaRPr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entury Gothic"/>
                <a:buNone/>
              </a:pPr>
              <a:r>
                <a:t/>
              </a:r>
              <a:endParaRPr sz="10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10311" y="484025"/>
              <a:ext cx="10050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</a:rPr>
                <a:t>5.1 Task : Tests et Recette Technique 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9610814" y="439106"/>
              <a:ext cx="10050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solidFill>
                    <a:schemeClr val="dk1"/>
                  </a:solidFill>
                </a:rPr>
                <a:t>5.2 Task : Gestion de la Qualité de Donnée (Data Quality)</a:t>
              </a:r>
              <a:endParaRPr sz="9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951520" y="585728"/>
              <a:ext cx="12672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3.3 Fiabilisation du Système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685229" y="1117173"/>
              <a:ext cx="1402200" cy="22143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5.1.1 Tests unitaires et d'intégration : Vérification du bon fonctionnement de chaque module (Scraper, IA, Base de données).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5.1.2 Évaluation de la précision IA: Comparaison des résultats de l'IA avec un échantillon de contrôle humain.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5.1.3 Tests de montée en charge : Vérification de la stabilité du système lors de collectes simultanées sur plusieurs sources.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9275088" y="1161192"/>
              <a:ext cx="1362900" cy="18006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5.2.1 Monitoring du taux d'erreur : Création d'alertes automatiques si la qualité de l'extraction descend sous un seuil.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5.2.2 Audit de fraîcheur : Mise en place d'un cycle de vérification pour supprimer les données obsolètes.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10987218" y="1886125"/>
              <a:ext cx="1195800" cy="13359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3.3.1 Gestion des exceptions : Développement d'un système de "Retry" intelligent en cas d'erreur réseau ou de timeout..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3.3.2 Détection de changement DOM : Alerte automatique si la structure d'un site cible est modifiée.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151" name="Google Shape;151;p1"/>
            <p:cNvCxnSpPr>
              <a:stCxn id="144" idx="2"/>
              <a:endCxn id="145" idx="0"/>
            </p:cNvCxnSpPr>
            <p:nvPr/>
          </p:nvCxnSpPr>
          <p:spPr>
            <a:xfrm rot="5400000">
              <a:off x="8395505" y="-395486"/>
              <a:ext cx="297000" cy="1462200"/>
            </a:xfrm>
            <a:prstGeom prst="bentConnector3">
              <a:avLst>
                <a:gd fmla="val 49985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" name="Google Shape;152;p1"/>
            <p:cNvCxnSpPr>
              <a:stCxn id="145" idx="2"/>
              <a:endCxn id="148" idx="0"/>
            </p:cNvCxnSpPr>
            <p:nvPr/>
          </p:nvCxnSpPr>
          <p:spPr>
            <a:xfrm flipH="1">
              <a:off x="7386211" y="954125"/>
              <a:ext cx="426600" cy="16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3" name="Google Shape;153;p1"/>
            <p:cNvCxnSpPr>
              <a:stCxn id="146" idx="2"/>
              <a:endCxn id="149" idx="0"/>
            </p:cNvCxnSpPr>
            <p:nvPr/>
          </p:nvCxnSpPr>
          <p:spPr>
            <a:xfrm flipH="1">
              <a:off x="9956414" y="909206"/>
              <a:ext cx="156900" cy="2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" name="Google Shape;154;p1"/>
            <p:cNvCxnSpPr>
              <a:stCxn id="144" idx="2"/>
              <a:endCxn id="146" idx="0"/>
            </p:cNvCxnSpPr>
            <p:nvPr/>
          </p:nvCxnSpPr>
          <p:spPr>
            <a:xfrm>
              <a:off x="9275105" y="187114"/>
              <a:ext cx="838200" cy="2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5" name="Google Shape;155;p1"/>
            <p:cNvSpPr/>
            <p:nvPr/>
          </p:nvSpPr>
          <p:spPr>
            <a:xfrm>
              <a:off x="3827239" y="-744254"/>
              <a:ext cx="3702900" cy="388800"/>
            </a:xfrm>
            <a:prstGeom prst="roundRect">
              <a:avLst>
                <a:gd fmla="val 0" name="adj"/>
              </a:avLst>
            </a:prstGeom>
            <a:solidFill>
              <a:srgbClr val="8296B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None/>
              </a:pPr>
              <a:r>
                <a:rPr lang="en-US" sz="1100">
                  <a:latin typeface="Century Gothic"/>
                  <a:ea typeface="Century Gothic"/>
                  <a:cs typeface="Century Gothic"/>
                  <a:sym typeface="Century Gothic"/>
                </a:rPr>
                <a:t>Enrichissement et automatisation de la collecte de données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6" name="Google Shape;156;p1"/>
            <p:cNvCxnSpPr>
              <a:stCxn id="155" idx="2"/>
              <a:endCxn id="128" idx="0"/>
            </p:cNvCxnSpPr>
            <p:nvPr/>
          </p:nvCxnSpPr>
          <p:spPr>
            <a:xfrm rot="5400000">
              <a:off x="3381589" y="-2498654"/>
              <a:ext cx="153900" cy="4440300"/>
            </a:xfrm>
            <a:prstGeom prst="bentConnector3">
              <a:avLst>
                <a:gd fmla="val 49964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" name="Google Shape;157;p1"/>
            <p:cNvCxnSpPr>
              <a:stCxn id="155" idx="2"/>
              <a:endCxn id="144" idx="0"/>
            </p:cNvCxnSpPr>
            <p:nvPr/>
          </p:nvCxnSpPr>
          <p:spPr>
            <a:xfrm flipH="1" rot="-5400000">
              <a:off x="7399939" y="-2076704"/>
              <a:ext cx="153900" cy="3596400"/>
            </a:xfrm>
            <a:prstGeom prst="bentConnector3">
              <a:avLst>
                <a:gd fmla="val 49964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58" name="Google Shape;158;p1"/>
          <p:cNvCxnSpPr>
            <a:stCxn id="135" idx="0"/>
          </p:cNvCxnSpPr>
          <p:nvPr/>
        </p:nvCxnSpPr>
        <p:spPr>
          <a:xfrm rot="10800000">
            <a:off x="1303824" y="1532755"/>
            <a:ext cx="4374000" cy="46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g3b4ac291787_0_1"/>
          <p:cNvGrpSpPr/>
          <p:nvPr/>
        </p:nvGrpSpPr>
        <p:grpSpPr>
          <a:xfrm>
            <a:off x="-2082325" y="16"/>
            <a:ext cx="13223678" cy="11241183"/>
            <a:chOff x="-1763025" y="-744254"/>
            <a:chExt cx="11686856" cy="6757549"/>
          </a:xfrm>
        </p:grpSpPr>
        <p:sp>
          <p:nvSpPr>
            <p:cNvPr id="164" name="Google Shape;164;g3b4ac291787_0_1"/>
            <p:cNvSpPr/>
            <p:nvPr/>
          </p:nvSpPr>
          <p:spPr>
            <a:xfrm>
              <a:off x="-1371392" y="3378370"/>
              <a:ext cx="2071800" cy="388800"/>
            </a:xfrm>
            <a:prstGeom prst="roundRect">
              <a:avLst>
                <a:gd fmla="val 16667" name="adj"/>
              </a:avLst>
            </a:prstGeom>
            <a:solidFill>
              <a:srgbClr val="ACB8C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entury Gothic"/>
                <a:buNone/>
              </a:pPr>
              <a:r>
                <a:rPr lang="en-US" sz="1000">
                  <a:latin typeface="Century Gothic"/>
                  <a:ea typeface="Century Gothic"/>
                  <a:cs typeface="Century Gothic"/>
                  <a:sym typeface="Century Gothic"/>
                </a:rPr>
                <a:t>Cadrage et Conformité (J1)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g3b4ac291787_0_1"/>
            <p:cNvSpPr/>
            <p:nvPr/>
          </p:nvSpPr>
          <p:spPr>
            <a:xfrm>
              <a:off x="-1659358" y="394255"/>
              <a:ext cx="1662300" cy="5598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b="1" lang="en-US" sz="1100">
                  <a:solidFill>
                    <a:schemeClr val="dk1"/>
                  </a:solidFill>
                </a:rPr>
                <a:t>Audit légal &amp; éthique : Identification des règles du web (T0.1)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g3b4ac291787_0_1"/>
            <p:cNvSpPr/>
            <p:nvPr/>
          </p:nvSpPr>
          <p:spPr>
            <a:xfrm>
              <a:off x="-1763025" y="1090926"/>
              <a:ext cx="1662300" cy="19644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1.1.1 Analyse de conformité RGPD : Identification des données à caractère personnel et définition des bases légales de traitement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1.1.2  Revue des CGU et conformité AI Act : Vérification des conditions d'utilisation des sites cibles et respect des régulations sur l'IA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1.1.3 Définition des quotas éthiques : Fixation des limites de requêtes par seconde pour ne pas perturber les serveurs sources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1.1.4 Rapport de faisabilité: Synthèse finale validant le périmètre de collecte et les risques résiduels.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g3b4ac291787_0_1"/>
            <p:cNvSpPr/>
            <p:nvPr/>
          </p:nvSpPr>
          <p:spPr>
            <a:xfrm>
              <a:off x="2349281" y="-201703"/>
              <a:ext cx="4243800" cy="388800"/>
            </a:xfrm>
            <a:prstGeom prst="roundRect">
              <a:avLst>
                <a:gd fmla="val 16667" name="adj"/>
              </a:avLst>
            </a:prstGeom>
            <a:solidFill>
              <a:srgbClr val="ACB8C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>
                  <a:solidFill>
                    <a:schemeClr val="dk1"/>
                  </a:solidFill>
                </a:rPr>
                <a:t>Déploiement et Maintenance (J6)</a:t>
              </a:r>
              <a:endParaRPr sz="17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0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g3b4ac291787_0_1"/>
            <p:cNvSpPr/>
            <p:nvPr/>
          </p:nvSpPr>
          <p:spPr>
            <a:xfrm>
              <a:off x="2397301" y="439107"/>
              <a:ext cx="12672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</a:rPr>
                <a:t>6.1 Task : Mise en Production et Industrialisation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</a:endParaRPr>
            </a:p>
          </p:txBody>
        </p:sp>
        <p:sp>
          <p:nvSpPr>
            <p:cNvPr id="169" name="Google Shape;169;g3b4ac291787_0_1"/>
            <p:cNvSpPr/>
            <p:nvPr/>
          </p:nvSpPr>
          <p:spPr>
            <a:xfrm>
              <a:off x="3787372" y="457021"/>
              <a:ext cx="1267200" cy="524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</a:rPr>
                <a:t>6.2 Task : Documentation et Transfert de Compétences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g3b4ac291787_0_1"/>
            <p:cNvSpPr/>
            <p:nvPr/>
          </p:nvSpPr>
          <p:spPr>
            <a:xfrm>
              <a:off x="5456995" y="484032"/>
              <a:ext cx="10050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</a:rPr>
                <a:t>6.3 Task : Maintenance et Évolutions</a:t>
              </a:r>
              <a:endParaRPr sz="1200">
                <a:solidFill>
                  <a:srgbClr val="434343"/>
                </a:solidFill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g3b4ac291787_0_1"/>
            <p:cNvSpPr/>
            <p:nvPr/>
          </p:nvSpPr>
          <p:spPr>
            <a:xfrm>
              <a:off x="519608" y="1117233"/>
              <a:ext cx="2925000" cy="22611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</a:rPr>
                <a:t>6.1.1 Déploiement: Automatisation du déploiement des mises à jour du code vers le serveur de production.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</a:rPr>
                <a:t>6.1.2 Migration vers l'environnement final : Transfert de la base de données du mode test vers le mode exploitation.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</a:rPr>
                <a:t>6.1.3 Configuration du monitoring temps réel : Setup de tableaux de bord (Grafana/Datadog) pour suivre l'état du système.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</a:rPr>
                <a:t>6.1.4  Rapport de fin de projet : Synthèse technique, état des lieux des données et recommandations futures.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g3b4ac291787_0_1"/>
            <p:cNvSpPr/>
            <p:nvPr/>
          </p:nvSpPr>
          <p:spPr>
            <a:xfrm>
              <a:off x="3714018" y="1117233"/>
              <a:ext cx="2153400" cy="12927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</a:rPr>
                <a:t>6.2.1 Rédaction de la documentation technique : Guide complet sur l'architecture, les APIs et les scripts IA.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</a:rPr>
                <a:t>6.2.2 Manuel utilisateur : Guide pratique pour l'utilisation du dashboard et l'exportation des données</a:t>
              </a:r>
              <a:endParaRPr sz="10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g3b4ac291787_0_1"/>
            <p:cNvSpPr/>
            <p:nvPr/>
          </p:nvSpPr>
          <p:spPr>
            <a:xfrm>
              <a:off x="6997193" y="1117188"/>
              <a:ext cx="2621400" cy="19119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6.3.1 Veille technologique: Suivi des évolutions des sites cibles pour adapter les scrapers.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174" name="Google Shape;174;g3b4ac291787_0_1"/>
            <p:cNvCxnSpPr>
              <a:endCxn id="169" idx="0"/>
            </p:cNvCxnSpPr>
            <p:nvPr/>
          </p:nvCxnSpPr>
          <p:spPr>
            <a:xfrm flipH="1">
              <a:off x="4420972" y="177721"/>
              <a:ext cx="83700" cy="27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g3b4ac291787_0_1"/>
            <p:cNvCxnSpPr>
              <a:stCxn id="168" idx="2"/>
            </p:cNvCxnSpPr>
            <p:nvPr/>
          </p:nvCxnSpPr>
          <p:spPr>
            <a:xfrm>
              <a:off x="3030901" y="909207"/>
              <a:ext cx="14700" cy="20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" name="Google Shape;176;g3b4ac291787_0_1"/>
            <p:cNvCxnSpPr>
              <a:stCxn id="170" idx="2"/>
              <a:endCxn id="173" idx="0"/>
            </p:cNvCxnSpPr>
            <p:nvPr/>
          </p:nvCxnSpPr>
          <p:spPr>
            <a:xfrm>
              <a:off x="5959495" y="954132"/>
              <a:ext cx="2348400" cy="163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7" name="Google Shape;177;g3b4ac291787_0_1"/>
            <p:cNvSpPr/>
            <p:nvPr/>
          </p:nvSpPr>
          <p:spPr>
            <a:xfrm>
              <a:off x="5867531" y="3767173"/>
              <a:ext cx="4056300" cy="388800"/>
            </a:xfrm>
            <a:prstGeom prst="roundRect">
              <a:avLst>
                <a:gd fmla="val 16667" name="adj"/>
              </a:avLst>
            </a:prstGeom>
            <a:solidFill>
              <a:srgbClr val="ACB8C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entury Gothic"/>
                <a:buNone/>
              </a:pPr>
              <a:r>
                <a:rPr lang="en-US" sz="1000">
                  <a:latin typeface="Century Gothic"/>
                  <a:ea typeface="Century Gothic"/>
                  <a:cs typeface="Century Gothic"/>
                  <a:sym typeface="Century Gothic"/>
                </a:rPr>
                <a:t>Jalon 3 : Développement du Moteur de Collecte IA (J3)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g3b4ac291787_0_1"/>
            <p:cNvSpPr/>
            <p:nvPr/>
          </p:nvSpPr>
          <p:spPr>
            <a:xfrm>
              <a:off x="6812498" y="3767170"/>
              <a:ext cx="10050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3.1 Ingénierie d'Extraction de Données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g3b4ac291787_0_1"/>
            <p:cNvSpPr/>
            <p:nvPr/>
          </p:nvSpPr>
          <p:spPr>
            <a:xfrm>
              <a:off x="7247215" y="3560484"/>
              <a:ext cx="10050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3.2 Développement des Scrapers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g3b4ac291787_0_1"/>
            <p:cNvSpPr/>
            <p:nvPr/>
          </p:nvSpPr>
          <p:spPr>
            <a:xfrm>
              <a:off x="8521509" y="3726528"/>
              <a:ext cx="1097100" cy="470100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3.3 Fiabilisation du Système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g3b4ac291787_0_1"/>
            <p:cNvSpPr/>
            <p:nvPr/>
          </p:nvSpPr>
          <p:spPr>
            <a:xfrm>
              <a:off x="6528269" y="3912169"/>
              <a:ext cx="1402200" cy="17538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3.1.1 Identification des sélecteurs : Cartographie des balises HTML critiques pour l'extraction des informations cibles.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3.1.2 Design de Prompts d'extraction : Création de prompts LLM pour transformer du texte brut non structuré en format JSON propre..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3.1.3 Validation des échantillons : Test de l'extraction sur un panel réduit pour vérifier la qualité des données remontées.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g3b4ac291787_0_1"/>
            <p:cNvSpPr/>
            <p:nvPr/>
          </p:nvSpPr>
          <p:spPr>
            <a:xfrm>
              <a:off x="7817487" y="4212695"/>
              <a:ext cx="1362900" cy="18006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3.2.1 Architecture des robots : Programmation des scripts de navigation automatisée (Playwright ou Selenium).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3.2.2 Pipeline de traitement IA : Intégration de l'appel LLM au sein de la boucle de collecte pour le nettoyage immédiat.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3.2.3 Gestion de la pagination : Développement de la logique de parcours des listes et des défilements infinis.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g3b4ac291787_0_1"/>
            <p:cNvSpPr/>
            <p:nvPr/>
          </p:nvSpPr>
          <p:spPr>
            <a:xfrm>
              <a:off x="8521509" y="3560486"/>
              <a:ext cx="1195800" cy="1335900"/>
            </a:xfrm>
            <a:prstGeom prst="rect">
              <a:avLst/>
            </a:prstGeom>
            <a:solidFill>
              <a:srgbClr val="E5E9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3.3.1 Gestion des exceptions : Développement d'un système de "Retry" intelligent en cas d'erreur réseau ou de timeout..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00">
                  <a:latin typeface="Century Gothic"/>
                  <a:ea typeface="Century Gothic"/>
                  <a:cs typeface="Century Gothic"/>
                  <a:sym typeface="Century Gothic"/>
                </a:rPr>
                <a:t>3.3.2 Détection de changement DOM : Alerte automatique si la structure d'un site cible est modifiée.</a:t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entury Gothic"/>
                <a:buNone/>
              </a:pPr>
              <a:r>
                <a:t/>
              </a:r>
              <a:endParaRPr sz="9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4" name="Google Shape;184;g3b4ac291787_0_1"/>
            <p:cNvSpPr/>
            <p:nvPr/>
          </p:nvSpPr>
          <p:spPr>
            <a:xfrm>
              <a:off x="3827239" y="-744254"/>
              <a:ext cx="3702900" cy="388800"/>
            </a:xfrm>
            <a:prstGeom prst="roundRect">
              <a:avLst>
                <a:gd fmla="val 0" name="adj"/>
              </a:avLst>
            </a:prstGeom>
            <a:solidFill>
              <a:srgbClr val="8296B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None/>
              </a:pPr>
              <a:r>
                <a:rPr lang="en-US" sz="1100">
                  <a:latin typeface="Century Gothic"/>
                  <a:ea typeface="Century Gothic"/>
                  <a:cs typeface="Century Gothic"/>
                  <a:sym typeface="Century Gothic"/>
                </a:rPr>
                <a:t>Enrichissement et automatisation de la collecte de données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" name="Google Shape;185;g3b4ac291787_0_1"/>
            <p:cNvCxnSpPr>
              <a:stCxn id="184" idx="2"/>
              <a:endCxn id="167" idx="0"/>
            </p:cNvCxnSpPr>
            <p:nvPr/>
          </p:nvCxnSpPr>
          <p:spPr>
            <a:xfrm rot="5400000">
              <a:off x="4997989" y="-882254"/>
              <a:ext cx="153900" cy="1207500"/>
            </a:xfrm>
            <a:prstGeom prst="bentConnector3">
              <a:avLst>
                <a:gd fmla="val 49959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86" name="Google Shape;186;g3b4ac291787_0_1"/>
          <p:cNvCxnSpPr>
            <a:stCxn id="169" idx="2"/>
            <a:endCxn id="172" idx="0"/>
          </p:cNvCxnSpPr>
          <p:nvPr/>
        </p:nvCxnSpPr>
        <p:spPr>
          <a:xfrm>
            <a:off x="4914868" y="2870178"/>
            <a:ext cx="418500" cy="22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" name="Google Shape;187;g3b4ac291787_0_1"/>
          <p:cNvCxnSpPr/>
          <p:nvPr/>
        </p:nvCxnSpPr>
        <p:spPr>
          <a:xfrm flipH="1" rot="-5400000">
            <a:off x="5603551" y="963919"/>
            <a:ext cx="494100" cy="1674300"/>
          </a:xfrm>
          <a:prstGeom prst="bentConnector3">
            <a:avLst>
              <a:gd fmla="val 441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8" name="Google Shape;188;g3b4ac291787_0_1"/>
          <p:cNvCxnSpPr/>
          <p:nvPr/>
        </p:nvCxnSpPr>
        <p:spPr>
          <a:xfrm rot="5400000">
            <a:off x="4053151" y="1012819"/>
            <a:ext cx="419100" cy="150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2024-07-31T18:43:37Z</dcterms:created>
  <dc:creator>Dunlevy, Bess</dc:creator>
</cp:coreProperties>
</file>