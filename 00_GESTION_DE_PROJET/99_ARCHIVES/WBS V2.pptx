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Lato"/>
      <p:regular r:id="rId12"/>
      <p:bold r:id="rId13"/>
      <p:italic r:id="rId14"/>
      <p:boldItalic r:id="rId15"/>
    </p:embeddedFont>
    <p:embeddedFont>
      <p:font typeface="Century Gothic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17" Type="http://schemas.openxmlformats.org/officeDocument/2006/relationships/font" Target="fonts/CenturyGothic-bold.fntdata"/><Relationship Id="rId16" Type="http://schemas.openxmlformats.org/officeDocument/2006/relationships/font" Target="fonts/CenturyGothic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boldItalic.fntdata"/><Relationship Id="rId6" Type="http://schemas.openxmlformats.org/officeDocument/2006/relationships/slide" Target="slides/slide1.xml"/><Relationship Id="rId18" Type="http://schemas.openxmlformats.org/officeDocument/2006/relationships/font" Target="fonts/CenturyGothic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912fab2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912fab2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912fab22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912fab22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912fab22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912fab22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912fab22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912fab22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912fab22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912fab22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912fab225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912fab225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only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3" name="Google Shape;53;p13">
            <a:hlinkClick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" name="Google Shape;54;p13">
            <a:hlinkClick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" name="Google Shape;55;p13">
            <a:hlinkClick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" name="Google Shape;56;p13">
            <a:hlinkClick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729450" y="1068650"/>
            <a:ext cx="76887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7431607" y="837387"/>
            <a:ext cx="1447200" cy="626100"/>
          </a:xfrm>
          <a:prstGeom prst="roundRect">
            <a:avLst>
              <a:gd fmla="val 16667" name="adj"/>
            </a:avLst>
          </a:prstGeom>
          <a:solidFill>
            <a:srgbClr val="FF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r>
              <a:rPr b="1" lang="f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Validation, Test et Déploiement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5581853" y="834559"/>
            <a:ext cx="1686900" cy="6261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r>
              <a:rPr b="1" lang="f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Interface de Monitoring et Intégration Power BI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3855111" y="837337"/>
            <a:ext cx="1563600" cy="626100"/>
          </a:xfrm>
          <a:prstGeom prst="roundRect">
            <a:avLst>
              <a:gd fmla="val 16667" name="adj"/>
            </a:avLst>
          </a:prstGeom>
          <a:solidFill>
            <a:srgbClr val="53C6A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r>
              <a:rPr b="1" lang="f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Traitement et Normalisation des Données 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136840" y="77212"/>
            <a:ext cx="7017705" cy="2294105"/>
            <a:chOff x="202632" y="-744242"/>
            <a:chExt cx="8091439" cy="1700219"/>
          </a:xfrm>
        </p:grpSpPr>
        <p:sp>
          <p:nvSpPr>
            <p:cNvPr id="66" name="Google Shape;66;p14"/>
            <p:cNvSpPr/>
            <p:nvPr/>
          </p:nvSpPr>
          <p:spPr>
            <a:xfrm>
              <a:off x="202633" y="-151253"/>
              <a:ext cx="1662300" cy="464100"/>
            </a:xfrm>
            <a:prstGeom prst="roundRect">
              <a:avLst>
                <a:gd fmla="val 16667" name="adj"/>
              </a:avLst>
            </a:prstGeom>
            <a:solidFill>
              <a:srgbClr val="3D85C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tr" dir="8100000" dist="28575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1" lang="fr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1. Gestion de projet et Conception d'Architecture</a:t>
              </a:r>
              <a:endParaRPr b="1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202632" y="396176"/>
              <a:ext cx="1662300" cy="559800"/>
            </a:xfrm>
            <a:prstGeom prst="roundRect">
              <a:avLst>
                <a:gd fmla="val 16667" name="adj"/>
              </a:avLst>
            </a:prstGeom>
            <a:solidFill>
              <a:srgbClr val="A4C2F4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tr" dir="8100000" dist="28575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Century Gothic"/>
                <a:buNone/>
              </a:pPr>
              <a:r>
                <a:rPr lang="fr" sz="1200">
                  <a:latin typeface="Calibri"/>
                  <a:ea typeface="Calibri"/>
                  <a:cs typeface="Calibri"/>
                  <a:sym typeface="Calibri"/>
                </a:rPr>
                <a:t>Définition des spécifications techniques</a:t>
              </a:r>
              <a:endParaRPr i="0" sz="12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2161492" y="-160499"/>
              <a:ext cx="2125800" cy="464100"/>
            </a:xfrm>
            <a:prstGeom prst="roundRect">
              <a:avLst>
                <a:gd fmla="val 16667" name="adj"/>
              </a:avLst>
            </a:prstGeom>
            <a:solidFill>
              <a:srgbClr val="CC412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tr" dir="8100000" dist="28575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fr" sz="1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2.Module d'Extraction de Données</a:t>
              </a:r>
              <a:endParaRPr b="1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2176771" y="-744242"/>
              <a:ext cx="6117300" cy="388800"/>
            </a:xfrm>
            <a:prstGeom prst="roundRect">
              <a:avLst>
                <a:gd fmla="val 0" name="adj"/>
              </a:avLst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tr" dir="8100000" dist="28575">
                <a:srgbClr val="00000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1" i="1" lang="fr" sz="1100" u="sng">
                  <a:latin typeface="Century Gothic"/>
                  <a:ea typeface="Century Gothic"/>
                  <a:cs typeface="Century Gothic"/>
                  <a:sym typeface="Century Gothic"/>
                </a:rPr>
                <a:t>Développement d’un outil d’automatisation pour l’analyse des filières industrielles </a:t>
              </a:r>
              <a:endParaRPr b="1" i="1" sz="11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" name="Google Shape;70;p14"/>
          <p:cNvSpPr/>
          <p:nvPr/>
        </p:nvSpPr>
        <p:spPr>
          <a:xfrm>
            <a:off x="110924" y="2520945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Plan de construction du système</a:t>
            </a:r>
            <a:endParaRPr i="0" sz="1200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110924" y="3422207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latin typeface="Calibri"/>
                <a:ea typeface="Calibri"/>
                <a:cs typeface="Calibri"/>
                <a:sym typeface="Calibri"/>
              </a:rPr>
              <a:t>Documentation technique détaillée</a:t>
            </a:r>
            <a:endParaRPr i="0" sz="1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136852" y="4323482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/>
              <a:t> Analyse des risques et plan de secours </a:t>
            </a:r>
            <a:endParaRPr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001957" y="3393907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Extraction via IA Générative</a:t>
            </a:r>
            <a:endParaRPr i="0" sz="1200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2001957" y="2527520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Intégration des API</a:t>
            </a:r>
            <a:endParaRPr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2001957" y="1619695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Développement du Web Scraping</a:t>
            </a:r>
            <a:endParaRPr i="0" sz="1200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5696613" y="1619695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Développement de l'interface utilisateur </a:t>
            </a:r>
            <a:endParaRPr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3925317" y="4343170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Gestion de la base de données SQL</a:t>
            </a:r>
            <a:endParaRPr i="0" sz="1200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892989" y="3435345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Classification par Machine Learning</a:t>
            </a:r>
            <a:endParaRPr i="0" sz="1200" u="none" cap="none" strike="noStrike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3892989" y="2527520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Traitement du Langage Naturel (NLP)</a:t>
            </a:r>
            <a:endParaRPr i="0" sz="1200" u="none" cap="none" strike="noStrike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2001957" y="4335495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Système de planification</a:t>
            </a:r>
            <a:endParaRPr i="0" sz="1200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925317" y="1619695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Nettoyage et normalisation</a:t>
            </a:r>
            <a:endParaRPr i="0" sz="1200" u="none" cap="none" strike="noStrike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7500237" y="2531295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Prototype fonctionnel ( échantillon représentatif)</a:t>
            </a:r>
            <a:endParaRPr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7467910" y="1619687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 unitaires et d'intégration</a:t>
            </a:r>
            <a:endParaRPr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5696613" y="4323445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 Module de gestion des erreurs</a:t>
            </a:r>
            <a:endParaRPr i="0" sz="1200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5696613" y="3422195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. Mapping automatique des champs</a:t>
            </a:r>
            <a:endParaRPr i="0" sz="1200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5696613" y="2520945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Connecteur Power BI ( power bi et sql)</a:t>
            </a:r>
            <a:endParaRPr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7500237" y="4354495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Stratégie de maintenance </a:t>
            </a:r>
            <a:endParaRPr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7458912" y="3442895"/>
            <a:ext cx="1410600" cy="7554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r" dir="8100000" dist="28575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 de déploiement </a:t>
            </a:r>
            <a:endParaRPr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4"/>
          <p:cNvCxnSpPr>
            <a:stCxn id="69" idx="1"/>
            <a:endCxn id="66" idx="0"/>
          </p:cNvCxnSpPr>
          <p:nvPr/>
        </p:nvCxnSpPr>
        <p:spPr>
          <a:xfrm flipH="1">
            <a:off x="857811" y="339515"/>
            <a:ext cx="991200" cy="53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4"/>
          <p:cNvCxnSpPr>
            <a:endCxn id="68" idx="0"/>
          </p:cNvCxnSpPr>
          <p:nvPr/>
        </p:nvCxnSpPr>
        <p:spPr>
          <a:xfrm flipH="1">
            <a:off x="2757612" y="626957"/>
            <a:ext cx="6000" cy="23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4"/>
          <p:cNvCxnSpPr>
            <a:endCxn id="64" idx="0"/>
          </p:cNvCxnSpPr>
          <p:nvPr/>
        </p:nvCxnSpPr>
        <p:spPr>
          <a:xfrm flipH="1">
            <a:off x="4636911" y="596437"/>
            <a:ext cx="3900" cy="24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4"/>
          <p:cNvCxnSpPr>
            <a:endCxn id="63" idx="0"/>
          </p:cNvCxnSpPr>
          <p:nvPr/>
        </p:nvCxnSpPr>
        <p:spPr>
          <a:xfrm flipH="1">
            <a:off x="6425303" y="611059"/>
            <a:ext cx="2100" cy="2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4"/>
          <p:cNvCxnSpPr>
            <a:stCxn id="69" idx="3"/>
            <a:endCxn id="62" idx="0"/>
          </p:cNvCxnSpPr>
          <p:nvPr/>
        </p:nvCxnSpPr>
        <p:spPr>
          <a:xfrm>
            <a:off x="7154545" y="339515"/>
            <a:ext cx="1000800" cy="49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4"/>
          <p:cNvCxnSpPr>
            <a:endCxn id="70" idx="0"/>
          </p:cNvCxnSpPr>
          <p:nvPr/>
        </p:nvCxnSpPr>
        <p:spPr>
          <a:xfrm>
            <a:off x="816224" y="2375145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4"/>
          <p:cNvCxnSpPr>
            <a:endCxn id="71" idx="0"/>
          </p:cNvCxnSpPr>
          <p:nvPr/>
        </p:nvCxnSpPr>
        <p:spPr>
          <a:xfrm>
            <a:off x="816224" y="3276407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4"/>
          <p:cNvCxnSpPr/>
          <p:nvPr/>
        </p:nvCxnSpPr>
        <p:spPr>
          <a:xfrm>
            <a:off x="779714" y="4190732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4"/>
          <p:cNvCxnSpPr/>
          <p:nvPr/>
        </p:nvCxnSpPr>
        <p:spPr>
          <a:xfrm>
            <a:off x="779714" y="1513657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4"/>
          <p:cNvCxnSpPr/>
          <p:nvPr/>
        </p:nvCxnSpPr>
        <p:spPr>
          <a:xfrm>
            <a:off x="2707325" y="4169495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4"/>
          <p:cNvCxnSpPr/>
          <p:nvPr/>
        </p:nvCxnSpPr>
        <p:spPr>
          <a:xfrm>
            <a:off x="2707325" y="3248107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4"/>
          <p:cNvCxnSpPr>
            <a:stCxn id="75" idx="2"/>
          </p:cNvCxnSpPr>
          <p:nvPr/>
        </p:nvCxnSpPr>
        <p:spPr>
          <a:xfrm>
            <a:off x="2707257" y="2375095"/>
            <a:ext cx="0" cy="19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4"/>
          <p:cNvCxnSpPr/>
          <p:nvPr/>
        </p:nvCxnSpPr>
        <p:spPr>
          <a:xfrm>
            <a:off x="4630685" y="4198282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4"/>
          <p:cNvCxnSpPr/>
          <p:nvPr/>
        </p:nvCxnSpPr>
        <p:spPr>
          <a:xfrm>
            <a:off x="6425234" y="4198282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4"/>
          <p:cNvCxnSpPr/>
          <p:nvPr/>
        </p:nvCxnSpPr>
        <p:spPr>
          <a:xfrm>
            <a:off x="6367628" y="3276357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4"/>
          <p:cNvCxnSpPr/>
          <p:nvPr/>
        </p:nvCxnSpPr>
        <p:spPr>
          <a:xfrm>
            <a:off x="6425234" y="2369932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4"/>
          <p:cNvCxnSpPr/>
          <p:nvPr/>
        </p:nvCxnSpPr>
        <p:spPr>
          <a:xfrm>
            <a:off x="4572430" y="3286220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4"/>
          <p:cNvCxnSpPr/>
          <p:nvPr/>
        </p:nvCxnSpPr>
        <p:spPr>
          <a:xfrm>
            <a:off x="4572430" y="2376507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4"/>
          <p:cNvCxnSpPr/>
          <p:nvPr/>
        </p:nvCxnSpPr>
        <p:spPr>
          <a:xfrm>
            <a:off x="4630685" y="1463482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4"/>
          <p:cNvCxnSpPr/>
          <p:nvPr/>
        </p:nvCxnSpPr>
        <p:spPr>
          <a:xfrm>
            <a:off x="2707325" y="1463482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4"/>
          <p:cNvCxnSpPr/>
          <p:nvPr/>
        </p:nvCxnSpPr>
        <p:spPr>
          <a:xfrm>
            <a:off x="6425234" y="1463482"/>
            <a:ext cx="0" cy="1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4"/>
          <p:cNvCxnSpPr>
            <a:stCxn id="62" idx="2"/>
            <a:endCxn id="83" idx="0"/>
          </p:cNvCxnSpPr>
          <p:nvPr/>
        </p:nvCxnSpPr>
        <p:spPr>
          <a:xfrm>
            <a:off x="8155207" y="1463487"/>
            <a:ext cx="18000" cy="15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" name="Google Shape;111;p14"/>
          <p:cNvSpPr txBox="1"/>
          <p:nvPr>
            <p:ph idx="12" type="sldNum"/>
          </p:nvPr>
        </p:nvSpPr>
        <p:spPr>
          <a:xfrm>
            <a:off x="8537116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112" name="Google Shape;112;p14"/>
          <p:cNvCxnSpPr/>
          <p:nvPr/>
        </p:nvCxnSpPr>
        <p:spPr>
          <a:xfrm>
            <a:off x="8146207" y="2375049"/>
            <a:ext cx="18000" cy="15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4"/>
          <p:cNvCxnSpPr/>
          <p:nvPr/>
        </p:nvCxnSpPr>
        <p:spPr>
          <a:xfrm>
            <a:off x="8162832" y="3286649"/>
            <a:ext cx="18000" cy="15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4"/>
          <p:cNvCxnSpPr/>
          <p:nvPr/>
        </p:nvCxnSpPr>
        <p:spPr>
          <a:xfrm>
            <a:off x="8173182" y="4198224"/>
            <a:ext cx="18000" cy="15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5937753" y="1267183"/>
            <a:ext cx="1730400" cy="7827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165" rotWithShape="0" algn="tr" dir="8100000" dist="31624">
              <a:srgbClr val="000000">
                <a:alpha val="40000"/>
              </a:srgbClr>
            </a:outerShdw>
          </a:effectLst>
        </p:spPr>
        <p:txBody>
          <a:bodyPr anchorCtr="0" anchor="ctr" bIns="37925" lIns="75900" spcFirstLastPara="1" rIns="75900" wrap="square" tIns="379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700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Plan de construction du système</a:t>
            </a:r>
            <a:endParaRPr sz="700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Century Gothic"/>
              <a:buNone/>
            </a:pPr>
            <a:r>
              <a:t/>
            </a:r>
            <a:endParaRPr sz="88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1794475" y="3220020"/>
            <a:ext cx="1561200" cy="8358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165" rotWithShape="0" algn="tr" dir="8100000" dist="31624">
              <a:srgbClr val="000000">
                <a:alpha val="40000"/>
              </a:srgbClr>
            </a:outerShdw>
          </a:effectLst>
        </p:spPr>
        <p:txBody>
          <a:bodyPr anchorCtr="0" anchor="ctr" bIns="37925" lIns="75900" spcFirstLastPara="1" rIns="75900" wrap="square" tIns="3792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"/>
              <a:buFont typeface="Century Gothic"/>
              <a:buNone/>
            </a:pPr>
            <a:r>
              <a:rPr lang="fr" sz="775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1.1.2. Définition des fréquences de rafraîchissement.</a:t>
            </a:r>
            <a:endParaRPr i="0" sz="775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5"/>
          <p:cNvGrpSpPr/>
          <p:nvPr/>
        </p:nvGrpSpPr>
        <p:grpSpPr>
          <a:xfrm>
            <a:off x="1794487" y="513794"/>
            <a:ext cx="5555273" cy="2544747"/>
            <a:chOff x="202632" y="-748247"/>
            <a:chExt cx="5914898" cy="1704224"/>
          </a:xfrm>
        </p:grpSpPr>
        <p:sp>
          <p:nvSpPr>
            <p:cNvPr id="122" name="Google Shape;122;p15"/>
            <p:cNvSpPr/>
            <p:nvPr/>
          </p:nvSpPr>
          <p:spPr>
            <a:xfrm>
              <a:off x="202633" y="-201686"/>
              <a:ext cx="1662300" cy="524100"/>
            </a:xfrm>
            <a:prstGeom prst="roundRect">
              <a:avLst>
                <a:gd fmla="val 16667" name="adj"/>
              </a:avLst>
            </a:prstGeom>
            <a:solidFill>
              <a:srgbClr val="3D85C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2165" rotWithShape="0" algn="tr" dir="8100000" dist="31624">
                <a:srgbClr val="000000">
                  <a:alpha val="40000"/>
                </a:srgbClr>
              </a:outerShdw>
            </a:effectLst>
          </p:spPr>
          <p:txBody>
            <a:bodyPr anchorCtr="0" anchor="ctr" bIns="37925" lIns="75900" spcFirstLastPara="1" rIns="75900" wrap="square" tIns="37925">
              <a:noAutofit/>
            </a:bodyPr>
            <a:lstStyle/>
            <a:p>
              <a:pPr indent="0" lvl="0" marL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Century Gothic"/>
                <a:buNone/>
              </a:pPr>
              <a:r>
                <a:rPr lang="fr" sz="743">
                  <a:latin typeface="Calibri"/>
                  <a:ea typeface="Calibri"/>
                  <a:cs typeface="Calibri"/>
                  <a:sym typeface="Calibri"/>
                </a:rPr>
                <a:t>Définition des spécifications techniques</a:t>
              </a:r>
              <a:endParaRPr b="0" i="0" sz="88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202632" y="396176"/>
              <a:ext cx="1662300" cy="559800"/>
            </a:xfrm>
            <a:prstGeom prst="roundRect">
              <a:avLst>
                <a:gd fmla="val 16667" name="adj"/>
              </a:avLst>
            </a:prstGeom>
            <a:solidFill>
              <a:srgbClr val="A4C2F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2165" rotWithShape="0" algn="tr" dir="8100000" dist="31624">
                <a:srgbClr val="000000">
                  <a:alpha val="40000"/>
                </a:srgbClr>
              </a:outerShdw>
            </a:effectLst>
          </p:spPr>
          <p:txBody>
            <a:bodyPr anchorCtr="0" anchor="ctr" bIns="37925" lIns="75900" spcFirstLastPara="1" rIns="75900" wrap="square" tIns="37925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75"/>
                <a:buFont typeface="Century Gothic"/>
                <a:buNone/>
              </a:pPr>
              <a:r>
                <a:rPr lang="fr" sz="775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1.1.1. Identification des indicateurs clés et sources cibles</a:t>
              </a:r>
              <a:endParaRPr i="0" sz="7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2176767" y="-211265"/>
              <a:ext cx="2125800" cy="524100"/>
            </a:xfrm>
            <a:prstGeom prst="roundRect">
              <a:avLst>
                <a:gd fmla="val 16667" name="adj"/>
              </a:avLst>
            </a:prstGeom>
            <a:solidFill>
              <a:srgbClr val="3D85C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2165" rotWithShape="0" algn="tr" dir="8100000" dist="31624">
                <a:srgbClr val="000000">
                  <a:alpha val="40000"/>
                </a:srgbClr>
              </a:outerShdw>
            </a:effectLst>
          </p:spPr>
          <p:txBody>
            <a:bodyPr anchorCtr="0" anchor="ctr" bIns="37925" lIns="75900" spcFirstLastPara="1" rIns="75900" wrap="square" tIns="37925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"/>
                <a:buFont typeface="Arial"/>
                <a:buNone/>
              </a:pPr>
              <a:r>
                <a:rPr lang="fr" sz="885">
                  <a:latin typeface="Century Gothic"/>
                  <a:ea typeface="Century Gothic"/>
                  <a:cs typeface="Century Gothic"/>
                  <a:sym typeface="Century Gothic"/>
                </a:rPr>
                <a:t>1.2. Architecture Système</a:t>
              </a:r>
              <a:endParaRPr sz="885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764031" y="-748247"/>
              <a:ext cx="5353500" cy="388800"/>
            </a:xfrm>
            <a:prstGeom prst="roundRect">
              <a:avLst>
                <a:gd fmla="val 0" name="adj"/>
              </a:avLst>
            </a:prstGeom>
            <a:solidFill>
              <a:srgbClr val="3D85C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2165" rotWithShape="0" algn="tr" dir="8100000" dist="31624">
                <a:srgbClr val="000000">
                  <a:alpha val="40000"/>
                </a:srgbClr>
              </a:outerShdw>
            </a:effectLst>
          </p:spPr>
          <p:txBody>
            <a:bodyPr anchorCtr="0" anchor="ctr" bIns="37925" lIns="75900" spcFirstLastPara="1" rIns="75900" wrap="square" tIns="3792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"/>
                <a:buFont typeface="Century Gothic"/>
                <a:buNone/>
              </a:pPr>
              <a:r>
                <a:rPr b="1" i="1" lang="fr" sz="1107" u="sng">
                  <a:latin typeface="Century Gothic"/>
                  <a:ea typeface="Century Gothic"/>
                  <a:cs typeface="Century Gothic"/>
                  <a:sym typeface="Century Gothic"/>
                </a:rPr>
                <a:t>1, Gestion de Projet et Conception</a:t>
              </a:r>
              <a:endParaRPr b="1" i="1" sz="1107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5"/>
          <p:cNvSpPr/>
          <p:nvPr/>
        </p:nvSpPr>
        <p:spPr>
          <a:xfrm>
            <a:off x="3887072" y="3227296"/>
            <a:ext cx="1561200" cy="8358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165" rotWithShape="0" algn="tr" dir="8100000" dist="31624">
              <a:srgbClr val="000000">
                <a:alpha val="40000"/>
              </a:srgbClr>
            </a:outerShdw>
          </a:effectLst>
        </p:spPr>
        <p:txBody>
          <a:bodyPr anchorCtr="0" anchor="ctr" bIns="37925" lIns="75900" spcFirstLastPara="1" rIns="75900" wrap="square" tIns="3792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"/>
              <a:buFont typeface="Century Gothic"/>
              <a:buNone/>
            </a:pPr>
            <a:r>
              <a:rPr lang="fr" sz="775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1.2.2. Modélisation de la base de données relationnelle</a:t>
            </a:r>
            <a:endParaRPr i="0" sz="775" u="none" cap="none" strike="noStrike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887072" y="2222606"/>
            <a:ext cx="1561200" cy="8358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165" rotWithShape="0" algn="tr" dir="8100000" dist="31624">
              <a:srgbClr val="000000">
                <a:alpha val="40000"/>
              </a:srgbClr>
            </a:outerShdw>
          </a:effectLst>
        </p:spPr>
        <p:txBody>
          <a:bodyPr anchorCtr="0" anchor="ctr" bIns="37925" lIns="75900" spcFirstLastPara="1" rIns="75900" wrap="square" tIns="3792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"/>
              <a:buFont typeface="Century Gothic"/>
              <a:buNone/>
            </a:pPr>
            <a:r>
              <a:rPr lang="fr" sz="7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1.2.1. Sélection de la Stack Technique (Python, SQL</a:t>
            </a:r>
            <a:endParaRPr i="0" sz="775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5979669" y="3227296"/>
            <a:ext cx="1561200" cy="8358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165" rotWithShape="0" algn="tr" dir="8100000" dist="31624">
              <a:srgbClr val="000000">
                <a:alpha val="40000"/>
              </a:srgbClr>
            </a:outerShdw>
          </a:effectLst>
        </p:spPr>
        <p:txBody>
          <a:bodyPr anchorCtr="0" anchor="ctr" bIns="37925" lIns="75900" spcFirstLastPara="1" rIns="75900" wrap="square" tIns="3792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"/>
              <a:buFont typeface="Century Gothic"/>
              <a:buNone/>
            </a:pPr>
            <a:r>
              <a:rPr lang="fr" sz="775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1.3.2. Création du backlog de développement et jalons.</a:t>
            </a:r>
            <a:endParaRPr i="0" sz="775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015443" y="2222606"/>
            <a:ext cx="1561200" cy="8358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165" rotWithShape="0" algn="tr" dir="8100000" dist="31624">
              <a:srgbClr val="000000">
                <a:alpha val="40000"/>
              </a:srgbClr>
            </a:outerShdw>
          </a:effectLst>
        </p:spPr>
        <p:txBody>
          <a:bodyPr anchorCtr="0" anchor="ctr" bIns="37925" lIns="75900" spcFirstLastPara="1" rIns="75900" wrap="square" tIns="379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1.3.1. Configuration de l'environnement de versioning (Git).</a:t>
            </a:r>
            <a:endParaRPr sz="775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"/>
              <a:buFont typeface="Century Gothic"/>
              <a:buNone/>
            </a:pPr>
            <a:r>
              <a:t/>
            </a:r>
            <a:endParaRPr sz="77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5"/>
          <p:cNvCxnSpPr>
            <a:endCxn id="122" idx="0"/>
          </p:cNvCxnSpPr>
          <p:nvPr/>
        </p:nvCxnSpPr>
        <p:spPr>
          <a:xfrm flipH="1">
            <a:off x="2575104" y="1072519"/>
            <a:ext cx="653700" cy="257400"/>
          </a:xfrm>
          <a:prstGeom prst="straightConnector1">
            <a:avLst/>
          </a:prstGeom>
          <a:noFill/>
          <a:ln cap="flat" cmpd="sng" w="105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5"/>
          <p:cNvCxnSpPr/>
          <p:nvPr/>
        </p:nvCxnSpPr>
        <p:spPr>
          <a:xfrm>
            <a:off x="5005168" y="1121043"/>
            <a:ext cx="0" cy="235500"/>
          </a:xfrm>
          <a:prstGeom prst="straightConnector1">
            <a:avLst/>
          </a:prstGeom>
          <a:noFill/>
          <a:ln cap="flat" cmpd="sng" w="105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5"/>
          <p:cNvCxnSpPr/>
          <p:nvPr/>
        </p:nvCxnSpPr>
        <p:spPr>
          <a:xfrm>
            <a:off x="6349048" y="1072274"/>
            <a:ext cx="382500" cy="187200"/>
          </a:xfrm>
          <a:prstGeom prst="straightConnector1">
            <a:avLst/>
          </a:prstGeom>
          <a:noFill/>
          <a:ln cap="flat" cmpd="sng" w="105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5"/>
          <p:cNvCxnSpPr>
            <a:endCxn id="120" idx="0"/>
          </p:cNvCxnSpPr>
          <p:nvPr/>
        </p:nvCxnSpPr>
        <p:spPr>
          <a:xfrm>
            <a:off x="2575075" y="3058620"/>
            <a:ext cx="0" cy="161400"/>
          </a:xfrm>
          <a:prstGeom prst="straightConnector1">
            <a:avLst/>
          </a:prstGeom>
          <a:noFill/>
          <a:ln cap="flat" cmpd="sng" w="105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5"/>
          <p:cNvCxnSpPr/>
          <p:nvPr/>
        </p:nvCxnSpPr>
        <p:spPr>
          <a:xfrm>
            <a:off x="2534551" y="2105255"/>
            <a:ext cx="0" cy="161400"/>
          </a:xfrm>
          <a:prstGeom prst="straightConnector1">
            <a:avLst/>
          </a:prstGeom>
          <a:noFill/>
          <a:ln cap="flat" cmpd="sng" w="105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5"/>
          <p:cNvCxnSpPr/>
          <p:nvPr/>
        </p:nvCxnSpPr>
        <p:spPr>
          <a:xfrm>
            <a:off x="4667625" y="3109032"/>
            <a:ext cx="0" cy="161400"/>
          </a:xfrm>
          <a:prstGeom prst="straightConnector1">
            <a:avLst/>
          </a:prstGeom>
          <a:noFill/>
          <a:ln cap="flat" cmpd="sng" w="105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15"/>
          <p:cNvCxnSpPr/>
          <p:nvPr/>
        </p:nvCxnSpPr>
        <p:spPr>
          <a:xfrm>
            <a:off x="6731530" y="3060171"/>
            <a:ext cx="0" cy="161400"/>
          </a:xfrm>
          <a:prstGeom prst="straightConnector1">
            <a:avLst/>
          </a:prstGeom>
          <a:noFill/>
          <a:ln cap="flat" cmpd="sng" w="105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15"/>
          <p:cNvCxnSpPr/>
          <p:nvPr/>
        </p:nvCxnSpPr>
        <p:spPr>
          <a:xfrm>
            <a:off x="6795995" y="2049726"/>
            <a:ext cx="0" cy="161400"/>
          </a:xfrm>
          <a:prstGeom prst="straightConnector1">
            <a:avLst/>
          </a:prstGeom>
          <a:noFill/>
          <a:ln cap="flat" cmpd="sng" w="105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15"/>
          <p:cNvCxnSpPr/>
          <p:nvPr/>
        </p:nvCxnSpPr>
        <p:spPr>
          <a:xfrm>
            <a:off x="4667625" y="2049726"/>
            <a:ext cx="0" cy="161400"/>
          </a:xfrm>
          <a:prstGeom prst="straightConnector1">
            <a:avLst/>
          </a:prstGeom>
          <a:noFill/>
          <a:ln cap="flat" cmpd="sng" w="105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15"/>
          <p:cNvSpPr/>
          <p:nvPr/>
        </p:nvSpPr>
        <p:spPr>
          <a:xfrm>
            <a:off x="1794475" y="4217220"/>
            <a:ext cx="1561200" cy="8358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165" rotWithShape="0" algn="tr" dir="8100000" dist="31624">
              <a:srgbClr val="000000">
                <a:alpha val="40000"/>
              </a:srgbClr>
            </a:outerShdw>
          </a:effectLst>
        </p:spPr>
        <p:txBody>
          <a:bodyPr anchorCtr="0" anchor="ctr" bIns="37925" lIns="75900" spcFirstLastPara="1" rIns="75900" wrap="square" tIns="3792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"/>
              <a:buFont typeface="Century Gothic"/>
              <a:buNone/>
            </a:pPr>
            <a:r>
              <a:rPr lang="fr" sz="775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1.1.3. Établissement du cadre de conformité</a:t>
            </a:r>
            <a:endParaRPr i="0" sz="775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3887072" y="4224496"/>
            <a:ext cx="1561200" cy="8358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165" rotWithShape="0" algn="tr" dir="8100000" dist="31624">
              <a:srgbClr val="000000">
                <a:alpha val="40000"/>
              </a:srgbClr>
            </a:outerShdw>
          </a:effectLst>
        </p:spPr>
        <p:txBody>
          <a:bodyPr anchorCtr="0" anchor="ctr" bIns="37925" lIns="75900" spcFirstLastPara="1" rIns="75900" wrap="square" tIns="3792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"/>
              <a:buFont typeface="Century Gothic"/>
              <a:buNone/>
            </a:pPr>
            <a:r>
              <a:rPr lang="fr" sz="775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 1.2.3Design du flux de données (Pipeline ETL).</a:t>
            </a:r>
            <a:endParaRPr i="0" sz="775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15"/>
          <p:cNvCxnSpPr>
            <a:endCxn id="139" idx="0"/>
          </p:cNvCxnSpPr>
          <p:nvPr/>
        </p:nvCxnSpPr>
        <p:spPr>
          <a:xfrm>
            <a:off x="2575075" y="4055820"/>
            <a:ext cx="0" cy="161400"/>
          </a:xfrm>
          <a:prstGeom prst="straightConnector1">
            <a:avLst/>
          </a:prstGeom>
          <a:noFill/>
          <a:ln cap="flat" cmpd="sng" w="105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5"/>
          <p:cNvCxnSpPr/>
          <p:nvPr/>
        </p:nvCxnSpPr>
        <p:spPr>
          <a:xfrm>
            <a:off x="4667625" y="4106232"/>
            <a:ext cx="0" cy="161400"/>
          </a:xfrm>
          <a:prstGeom prst="straightConnector1">
            <a:avLst/>
          </a:prstGeom>
          <a:noFill/>
          <a:ln cap="flat" cmpd="sng" w="105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2027475" y="152400"/>
            <a:ext cx="5219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WBS 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/>
          <p:nvPr/>
        </p:nvSpPr>
        <p:spPr>
          <a:xfrm>
            <a:off x="5997709" y="1221602"/>
            <a:ext cx="1737600" cy="786000"/>
          </a:xfrm>
          <a:prstGeom prst="roundRect">
            <a:avLst>
              <a:gd fmla="val 16667" name="adj"/>
            </a:avLst>
          </a:prstGeom>
          <a:solidFill>
            <a:srgbClr val="CC4125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345" rotWithShape="0" algn="tr" dir="8100000" dist="31758">
              <a:srgbClr val="000000">
                <a:alpha val="40000"/>
              </a:srgbClr>
            </a:outerShdw>
          </a:effectLst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9"/>
              <a:buFont typeface="Century Gothic"/>
              <a:buNone/>
            </a:pPr>
            <a:r>
              <a:rPr lang="fr" sz="889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2;3.IA d'Extraction</a:t>
            </a:r>
            <a:endParaRPr b="0" i="0" sz="889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1836800" y="3182741"/>
            <a:ext cx="1567800" cy="839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345" rotWithShape="0" algn="tr" dir="8100000" dist="31758">
              <a:srgbClr val="000000">
                <a:alpha val="40000"/>
              </a:srgbClr>
            </a:outerShdw>
          </a:effectLst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"/>
              <a:buFont typeface="Century Gothic"/>
              <a:buNone/>
            </a:pPr>
            <a:r>
              <a:rPr lang="fr" sz="778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2.1;2Plan de construction du système</a:t>
            </a:r>
            <a:endParaRPr i="0" sz="778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" name="Google Shape;151;p16"/>
          <p:cNvGrpSpPr/>
          <p:nvPr/>
        </p:nvGrpSpPr>
        <p:grpSpPr>
          <a:xfrm>
            <a:off x="1836792" y="464897"/>
            <a:ext cx="5578341" cy="2555824"/>
            <a:chOff x="202632" y="-748247"/>
            <a:chExt cx="5914898" cy="1704224"/>
          </a:xfrm>
        </p:grpSpPr>
        <p:sp>
          <p:nvSpPr>
            <p:cNvPr id="152" name="Google Shape;152;p16"/>
            <p:cNvSpPr/>
            <p:nvPr/>
          </p:nvSpPr>
          <p:spPr>
            <a:xfrm>
              <a:off x="202633" y="-201686"/>
              <a:ext cx="1662300" cy="524100"/>
            </a:xfrm>
            <a:prstGeom prst="roundRect">
              <a:avLst>
                <a:gd fmla="val 16667" name="adj"/>
              </a:avLst>
            </a:prstGeom>
            <a:solidFill>
              <a:srgbClr val="CC412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2345" rotWithShape="0" algn="tr" dir="8100000" dist="31758">
                <a:srgbClr val="000000">
                  <a:alpha val="40000"/>
                </a:srgbClr>
              </a:outerShdw>
            </a:effectLst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Century Gothic"/>
                <a:buNone/>
              </a:pPr>
              <a:r>
                <a:rPr lang="fr" sz="700">
                  <a:solidFill>
                    <a:srgbClr val="1A1918"/>
                  </a:solidFill>
                  <a:latin typeface="Calibri"/>
                  <a:ea typeface="Calibri"/>
                  <a:cs typeface="Calibri"/>
                  <a:sym typeface="Calibri"/>
                </a:rPr>
                <a:t>2.1Développement du Web Scraping</a:t>
              </a:r>
              <a:endParaRPr sz="700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9"/>
                <a:buFont typeface="Century Gothic"/>
                <a:buNone/>
              </a:pPr>
              <a:r>
                <a:t/>
              </a:r>
              <a:endParaRPr sz="889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202632" y="396176"/>
              <a:ext cx="1662300" cy="5598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2345" rotWithShape="0" algn="tr" dir="8100000" dist="31758">
                <a:srgbClr val="000000">
                  <a:alpha val="40000"/>
                </a:srgbClr>
              </a:outerShdw>
            </a:effectLst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78"/>
                <a:buFont typeface="Century Gothic"/>
                <a:buNone/>
              </a:pPr>
              <a:r>
                <a:rPr lang="fr" sz="778">
                  <a:solidFill>
                    <a:srgbClr val="1A1918"/>
                  </a:solidFill>
                  <a:latin typeface="Calibri"/>
                  <a:ea typeface="Calibri"/>
                  <a:cs typeface="Calibri"/>
                  <a:sym typeface="Calibri"/>
                </a:rPr>
                <a:t>2.1.1.</a:t>
              </a:r>
              <a:r>
                <a:rPr lang="fr" sz="778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Définition des spécifications techniques</a:t>
              </a:r>
              <a:endParaRPr i="0" sz="778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2176767" y="-211265"/>
              <a:ext cx="2125800" cy="524100"/>
            </a:xfrm>
            <a:prstGeom prst="roundRect">
              <a:avLst>
                <a:gd fmla="val 16667" name="adj"/>
              </a:avLst>
            </a:prstGeom>
            <a:solidFill>
              <a:srgbClr val="CC412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2345" rotWithShape="0" algn="tr" dir="8100000" dist="31758">
                <a:srgbClr val="000000">
                  <a:alpha val="40000"/>
                </a:srgbClr>
              </a:outerShdw>
            </a:effectLst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9"/>
                <a:buFont typeface="Arial"/>
                <a:buNone/>
              </a:pPr>
              <a:r>
                <a:rPr lang="fr" sz="889">
                  <a:latin typeface="Century Gothic"/>
                  <a:ea typeface="Century Gothic"/>
                  <a:cs typeface="Century Gothic"/>
                  <a:sym typeface="Century Gothic"/>
                </a:rPr>
                <a:t>2.2. Intégration API </a:t>
              </a:r>
              <a:endParaRPr sz="889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764031" y="-748247"/>
              <a:ext cx="5353500" cy="388800"/>
            </a:xfrm>
            <a:prstGeom prst="roundRect">
              <a:avLst>
                <a:gd fmla="val 0" name="adj"/>
              </a:avLst>
            </a:prstGeom>
            <a:solidFill>
              <a:srgbClr val="CC412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2345" rotWithShape="0" algn="tr" dir="8100000" dist="31758">
                <a:srgbClr val="000000">
                  <a:alpha val="40000"/>
                </a:srgbClr>
              </a:outerShdw>
            </a:effectLst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1" lang="fr" sz="1000" u="sng">
                  <a:solidFill>
                    <a:schemeClr val="dk2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2.Module d'Extraction de Données</a:t>
              </a:r>
              <a:endParaRPr b="1" i="1" sz="1000" u="sng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9"/>
                <a:buFont typeface="Century Gothic"/>
                <a:buNone/>
              </a:pPr>
              <a:r>
                <a:t/>
              </a:r>
              <a:endParaRPr b="1" i="1" sz="1111" u="sng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56" name="Google Shape;156;p16"/>
          <p:cNvSpPr/>
          <p:nvPr/>
        </p:nvSpPr>
        <p:spPr>
          <a:xfrm>
            <a:off x="3938301" y="3190048"/>
            <a:ext cx="1567800" cy="839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345" rotWithShape="0" algn="tr" dir="8100000" dist="31758">
              <a:srgbClr val="000000">
                <a:alpha val="40000"/>
              </a:srgbClr>
            </a:outerShdw>
          </a:effectLst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"/>
              <a:buFont typeface="Century Gothic"/>
              <a:buNone/>
            </a:pPr>
            <a:r>
              <a:rPr lang="fr" sz="778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2.2.2. Gestion du Rate Limiting et des quotas.</a:t>
            </a:r>
            <a:endParaRPr i="0" sz="778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938301" y="2181087"/>
            <a:ext cx="1567800" cy="839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345" rotWithShape="0" algn="tr" dir="8100000" dist="31758">
              <a:srgbClr val="000000">
                <a:alpha val="40000"/>
              </a:srgbClr>
            </a:outerShdw>
          </a:effectLst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"/>
              <a:buFont typeface="Century Gothic"/>
              <a:buNone/>
            </a:pPr>
            <a:r>
              <a:rPr lang="fr" sz="778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2.2.1. Authentification OAuth</a:t>
            </a:r>
            <a:endParaRPr i="0" sz="778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75729" y="2181087"/>
            <a:ext cx="1567800" cy="839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345" rotWithShape="0" algn="tr" dir="8100000" dist="31758">
              <a:srgbClr val="000000">
                <a:alpha val="40000"/>
              </a:srgbClr>
            </a:outerShdw>
          </a:effectLst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"/>
              <a:buFont typeface="Century Gothic"/>
              <a:buNone/>
            </a:pPr>
            <a:r>
              <a:rPr lang="fr" sz="778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2.3.1. Prompt Engineering pour données non structurées.</a:t>
            </a:r>
            <a:endParaRPr i="0" sz="778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16"/>
          <p:cNvCxnSpPr>
            <a:endCxn id="152" idx="0"/>
          </p:cNvCxnSpPr>
          <p:nvPr/>
        </p:nvCxnSpPr>
        <p:spPr>
          <a:xfrm flipH="1">
            <a:off x="2620651" y="1025675"/>
            <a:ext cx="656700" cy="258900"/>
          </a:xfrm>
          <a:prstGeom prst="straightConnector1">
            <a:avLst/>
          </a:prstGeom>
          <a:noFill/>
          <a:ln cap="flat" cmpd="sng" w="10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6"/>
          <p:cNvCxnSpPr/>
          <p:nvPr/>
        </p:nvCxnSpPr>
        <p:spPr>
          <a:xfrm>
            <a:off x="5061155" y="1074841"/>
            <a:ext cx="0" cy="236700"/>
          </a:xfrm>
          <a:prstGeom prst="straightConnector1">
            <a:avLst/>
          </a:prstGeom>
          <a:noFill/>
          <a:ln cap="flat" cmpd="sng" w="10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16"/>
          <p:cNvCxnSpPr/>
          <p:nvPr/>
        </p:nvCxnSpPr>
        <p:spPr>
          <a:xfrm>
            <a:off x="6410754" y="1025865"/>
            <a:ext cx="384300" cy="187800"/>
          </a:xfrm>
          <a:prstGeom prst="straightConnector1">
            <a:avLst/>
          </a:prstGeom>
          <a:noFill/>
          <a:ln cap="flat" cmpd="sng" w="10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16"/>
          <p:cNvCxnSpPr>
            <a:endCxn id="150" idx="0"/>
          </p:cNvCxnSpPr>
          <p:nvPr/>
        </p:nvCxnSpPr>
        <p:spPr>
          <a:xfrm>
            <a:off x="2620700" y="3020741"/>
            <a:ext cx="0" cy="162000"/>
          </a:xfrm>
          <a:prstGeom prst="straightConnector1">
            <a:avLst/>
          </a:prstGeom>
          <a:noFill/>
          <a:ln cap="flat" cmpd="sng" w="10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16"/>
          <p:cNvCxnSpPr/>
          <p:nvPr/>
        </p:nvCxnSpPr>
        <p:spPr>
          <a:xfrm>
            <a:off x="2580025" y="2063237"/>
            <a:ext cx="0" cy="162000"/>
          </a:xfrm>
          <a:prstGeom prst="straightConnector1">
            <a:avLst/>
          </a:prstGeom>
          <a:noFill/>
          <a:ln cap="flat" cmpd="sng" w="10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16"/>
          <p:cNvCxnSpPr/>
          <p:nvPr/>
        </p:nvCxnSpPr>
        <p:spPr>
          <a:xfrm>
            <a:off x="4722176" y="3071281"/>
            <a:ext cx="0" cy="162000"/>
          </a:xfrm>
          <a:prstGeom prst="straightConnector1">
            <a:avLst/>
          </a:prstGeom>
          <a:noFill/>
          <a:ln cap="flat" cmpd="sng" w="10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16"/>
          <p:cNvCxnSpPr/>
          <p:nvPr/>
        </p:nvCxnSpPr>
        <p:spPr>
          <a:xfrm>
            <a:off x="6794864" y="3022212"/>
            <a:ext cx="0" cy="162000"/>
          </a:xfrm>
          <a:prstGeom prst="straightConnector1">
            <a:avLst/>
          </a:prstGeom>
          <a:noFill/>
          <a:ln cap="flat" cmpd="sng" w="10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16"/>
          <p:cNvCxnSpPr/>
          <p:nvPr/>
        </p:nvCxnSpPr>
        <p:spPr>
          <a:xfrm>
            <a:off x="6859603" y="2007472"/>
            <a:ext cx="0" cy="162000"/>
          </a:xfrm>
          <a:prstGeom prst="straightConnector1">
            <a:avLst/>
          </a:prstGeom>
          <a:noFill/>
          <a:ln cap="flat" cmpd="sng" w="10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16"/>
          <p:cNvCxnSpPr/>
          <p:nvPr/>
        </p:nvCxnSpPr>
        <p:spPr>
          <a:xfrm>
            <a:off x="4722176" y="2007472"/>
            <a:ext cx="0" cy="162000"/>
          </a:xfrm>
          <a:prstGeom prst="straightConnector1">
            <a:avLst/>
          </a:prstGeom>
          <a:noFill/>
          <a:ln cap="flat" cmpd="sng" w="10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16"/>
          <p:cNvSpPr/>
          <p:nvPr/>
        </p:nvSpPr>
        <p:spPr>
          <a:xfrm>
            <a:off x="1836800" y="4191911"/>
            <a:ext cx="1567800" cy="839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345" rotWithShape="0" algn="tr" dir="8100000" dist="31758">
              <a:srgbClr val="000000">
                <a:alpha val="40000"/>
              </a:srgbClr>
            </a:outerShdw>
          </a:effectLst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"/>
              <a:buFont typeface="Century Gothic"/>
              <a:buNone/>
            </a:pPr>
            <a:r>
              <a:rPr lang="fr" sz="778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2;1.3Plan de construction du système</a:t>
            </a:r>
            <a:endParaRPr i="0" sz="778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6039802" y="3187931"/>
            <a:ext cx="1567800" cy="839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345" rotWithShape="0" algn="tr" dir="8100000" dist="31758">
              <a:srgbClr val="000000">
                <a:alpha val="40000"/>
              </a:srgbClr>
            </a:outerShdw>
          </a:effectLst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"/>
              <a:buFont typeface="Century Gothic"/>
              <a:buNone/>
            </a:pPr>
            <a:r>
              <a:rPr lang="fr" sz="778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2.3.2. Validation automatique de la qualité d'extraction.</a:t>
            </a:r>
            <a:endParaRPr i="0" sz="778" u="none" cap="none" strike="noStrike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16"/>
          <p:cNvCxnSpPr>
            <a:endCxn id="168" idx="0"/>
          </p:cNvCxnSpPr>
          <p:nvPr/>
        </p:nvCxnSpPr>
        <p:spPr>
          <a:xfrm>
            <a:off x="2620700" y="4029911"/>
            <a:ext cx="0" cy="162000"/>
          </a:xfrm>
          <a:prstGeom prst="straightConnector1">
            <a:avLst/>
          </a:prstGeom>
          <a:noFill/>
          <a:ln cap="flat" cmpd="sng" w="10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" name="Google Shape;1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>
            <a:off x="6103748" y="1256837"/>
            <a:ext cx="1795200" cy="812400"/>
          </a:xfrm>
          <a:prstGeom prst="roundRect">
            <a:avLst>
              <a:gd fmla="val 16667" name="adj"/>
            </a:avLst>
          </a:prstGeom>
          <a:solidFill>
            <a:srgbClr val="53C6A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753" rotWithShape="0" algn="tr" dir="8100000" dist="32815">
              <a:srgbClr val="000000">
                <a:alpha val="40000"/>
              </a:srgbClr>
            </a:outerShdw>
          </a:effectLst>
        </p:spPr>
        <p:txBody>
          <a:bodyPr anchorCtr="0" anchor="ctr" bIns="39375" lIns="78725" spcFirstLastPara="1" rIns="78725" wrap="square" tIns="39375">
            <a:no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3.3 Gestion de la base de données SQL</a:t>
            </a:r>
            <a:endParaRPr sz="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9"/>
              <a:buFont typeface="Century Gothic"/>
              <a:buNone/>
            </a:pPr>
            <a:r>
              <a:t/>
            </a:r>
            <a:endParaRPr sz="91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1804450" y="3283251"/>
            <a:ext cx="1620000" cy="867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753" rotWithShape="0" algn="tr" dir="8100000" dist="32815">
              <a:srgbClr val="000000">
                <a:alpha val="40000"/>
              </a:srgbClr>
            </a:outerShdw>
          </a:effectLst>
        </p:spPr>
        <p:txBody>
          <a:bodyPr anchorCtr="0" anchor="ctr" bIns="39375" lIns="78725" spcFirstLastPara="1" rIns="78725" wrap="square" tIns="393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Century Gothic"/>
              <a:buNone/>
            </a:pPr>
            <a:r>
              <a:rPr lang="fr" sz="804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3.1.2. Standardisation des formats (dates, devises, SIRET).</a:t>
            </a:r>
            <a:endParaRPr i="0" sz="804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17"/>
          <p:cNvGrpSpPr/>
          <p:nvPr/>
        </p:nvGrpSpPr>
        <p:grpSpPr>
          <a:xfrm>
            <a:off x="1804449" y="475033"/>
            <a:ext cx="5764069" cy="2640694"/>
            <a:chOff x="202632" y="-748247"/>
            <a:chExt cx="5914898" cy="1704224"/>
          </a:xfrm>
        </p:grpSpPr>
        <p:sp>
          <p:nvSpPr>
            <p:cNvPr id="179" name="Google Shape;179;p17"/>
            <p:cNvSpPr/>
            <p:nvPr/>
          </p:nvSpPr>
          <p:spPr>
            <a:xfrm>
              <a:off x="202633" y="-201686"/>
              <a:ext cx="1662300" cy="524100"/>
            </a:xfrm>
            <a:prstGeom prst="roundRect">
              <a:avLst>
                <a:gd fmla="val 16667" name="adj"/>
              </a:avLst>
            </a:prstGeom>
            <a:solidFill>
              <a:srgbClr val="53C6A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3753" rotWithShape="0" algn="tr" dir="8100000" dist="32815">
                <a:srgbClr val="000000">
                  <a:alpha val="40000"/>
                </a:srgbClr>
              </a:outerShdw>
            </a:effectLst>
          </p:spPr>
          <p:txBody>
            <a:bodyPr anchorCtr="0" anchor="ctr" bIns="39375" lIns="78725" spcFirstLastPara="1" rIns="78725" wrap="square" tIns="393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9"/>
                <a:buFont typeface="Century Gothic"/>
                <a:buNone/>
              </a:pPr>
              <a:r>
                <a:rPr lang="fr" sz="919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3.1. Nettoyage et Normalisation</a:t>
              </a:r>
              <a:endParaRPr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9"/>
                <a:buFont typeface="Century Gothic"/>
                <a:buNone/>
              </a:pPr>
              <a:r>
                <a:t/>
              </a:r>
              <a:endParaRPr sz="919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202632" y="396176"/>
              <a:ext cx="1662300" cy="5598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3753" rotWithShape="0" algn="tr" dir="8100000" dist="32815">
                <a:srgbClr val="000000">
                  <a:alpha val="40000"/>
                </a:srgbClr>
              </a:outerShdw>
            </a:effectLst>
          </p:spPr>
          <p:txBody>
            <a:bodyPr anchorCtr="0" anchor="ctr" bIns="39375" lIns="78725" spcFirstLastPara="1" rIns="78725" wrap="square" tIns="39375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4"/>
                <a:buFont typeface="Century Gothic"/>
                <a:buNone/>
              </a:pPr>
              <a:r>
                <a:rPr lang="fr" sz="804">
                  <a:solidFill>
                    <a:srgbClr val="1A1918"/>
                  </a:solidFill>
                  <a:latin typeface="Calibri"/>
                  <a:ea typeface="Calibri"/>
                  <a:cs typeface="Calibri"/>
                  <a:sym typeface="Calibri"/>
                </a:rPr>
                <a:t>3.1.1. Algorithmes de dédoublonnage (entreprises/contacts).</a:t>
              </a:r>
              <a:endParaRPr i="0" sz="804" u="none" cap="none" strike="noStrike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2176767" y="-211265"/>
              <a:ext cx="2125800" cy="524100"/>
            </a:xfrm>
            <a:prstGeom prst="roundRect">
              <a:avLst>
                <a:gd fmla="val 16667" name="adj"/>
              </a:avLst>
            </a:prstGeom>
            <a:solidFill>
              <a:srgbClr val="53C6A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3753" rotWithShape="0" algn="tr" dir="8100000" dist="32815">
                <a:srgbClr val="000000">
                  <a:alpha val="40000"/>
                </a:srgbClr>
              </a:outerShdw>
            </a:effectLst>
          </p:spPr>
          <p:txBody>
            <a:bodyPr anchorCtr="0" anchor="ctr" bIns="39375" lIns="78725" spcFirstLastPara="1" rIns="78725" wrap="square" tIns="39375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9"/>
                <a:buFont typeface="Arial"/>
                <a:buNone/>
              </a:pPr>
              <a:r>
                <a:rPr lang="fr" sz="919">
                  <a:latin typeface="Century Gothic"/>
                  <a:ea typeface="Century Gothic"/>
                  <a:cs typeface="Century Gothic"/>
                  <a:sym typeface="Century Gothic"/>
                </a:rPr>
                <a:t>3.2. Analyse Textuelle</a:t>
              </a:r>
              <a:endParaRPr sz="919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764031" y="-748247"/>
              <a:ext cx="5353500" cy="388800"/>
            </a:xfrm>
            <a:prstGeom prst="roundRect">
              <a:avLst>
                <a:gd fmla="val 0" name="adj"/>
              </a:avLst>
            </a:prstGeom>
            <a:solidFill>
              <a:srgbClr val="53C6A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3753" rotWithShape="0" algn="tr" dir="8100000" dist="32815">
                <a:srgbClr val="000000">
                  <a:alpha val="40000"/>
                </a:srgbClr>
              </a:outerShdw>
            </a:effectLst>
          </p:spPr>
          <p:txBody>
            <a:bodyPr anchorCtr="0" anchor="ctr" bIns="39375" lIns="78725" spcFirstLastPara="1" rIns="78725" wrap="square" tIns="39375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1" lang="fr" sz="11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3. Traitement et Normalisation des Données </a:t>
              </a:r>
              <a:endParaRPr b="1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9"/>
                <a:buFont typeface="Century Gothic"/>
                <a:buNone/>
              </a:pPr>
              <a:r>
                <a:t/>
              </a:r>
              <a:endParaRPr b="1" i="1" sz="1148" u="sng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83" name="Google Shape;183;p17"/>
          <p:cNvSpPr/>
          <p:nvPr/>
        </p:nvSpPr>
        <p:spPr>
          <a:xfrm>
            <a:off x="3975846" y="3290802"/>
            <a:ext cx="1620000" cy="867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753" rotWithShape="0" algn="tr" dir="8100000" dist="32815">
              <a:srgbClr val="000000">
                <a:alpha val="40000"/>
              </a:srgbClr>
            </a:outerShdw>
          </a:effectLst>
        </p:spPr>
        <p:txBody>
          <a:bodyPr anchorCtr="0" anchor="ctr" bIns="39375" lIns="78725" spcFirstLastPara="1" rIns="78725" wrap="square" tIns="393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Century Gothic"/>
              <a:buNone/>
            </a:pPr>
            <a:r>
              <a:rPr lang="fr" sz="804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3.2.2. Analyse de sentiment et scoring de pertinence.</a:t>
            </a:r>
            <a:endParaRPr i="0" sz="804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3975846" y="2248258"/>
            <a:ext cx="1620000" cy="867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753" rotWithShape="0" algn="tr" dir="8100000" dist="32815">
              <a:srgbClr val="000000">
                <a:alpha val="40000"/>
              </a:srgbClr>
            </a:outerShdw>
          </a:effectLst>
        </p:spPr>
        <p:txBody>
          <a:bodyPr anchorCtr="0" anchor="ctr" bIns="39375" lIns="78725" spcFirstLastPara="1" rIns="78725" wrap="square" tIns="393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Century Gothic"/>
              <a:buNone/>
            </a:pPr>
            <a:r>
              <a:rPr lang="fr" sz="804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3.2.1. Classification automatique par secteur/activité.</a:t>
            </a:r>
            <a:endParaRPr i="0" sz="804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6147242" y="3290802"/>
            <a:ext cx="1620000" cy="867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753" rotWithShape="0" algn="tr" dir="8100000" dist="32815">
              <a:srgbClr val="000000">
                <a:alpha val="40000"/>
              </a:srgbClr>
            </a:outerShdw>
          </a:effectLst>
        </p:spPr>
        <p:txBody>
          <a:bodyPr anchorCtr="0" anchor="ctr" bIns="39375" lIns="78725" spcFirstLastPara="1" rIns="78725" wrap="square" tIns="393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Century Gothic"/>
              <a:buNone/>
            </a:pPr>
            <a:r>
              <a:rPr lang="fr" sz="804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3.3.2. Logging des erreurs de traitement.</a:t>
            </a:r>
            <a:endParaRPr i="0" sz="804" u="none" cap="none" strike="noStrike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6184363" y="2248258"/>
            <a:ext cx="1620000" cy="867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753" rotWithShape="0" algn="tr" dir="8100000" dist="32815">
              <a:srgbClr val="000000">
                <a:alpha val="40000"/>
              </a:srgbClr>
            </a:outerShdw>
          </a:effectLst>
        </p:spPr>
        <p:txBody>
          <a:bodyPr anchorCtr="0" anchor="ctr" bIns="39375" lIns="78725" spcFirstLastPara="1" rIns="78725" wrap="square" tIns="393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Century Gothic"/>
              <a:buNone/>
            </a:pPr>
            <a:r>
              <a:rPr lang="fr" sz="804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3.3.1. Procédures de chargement SQL</a:t>
            </a:r>
            <a:endParaRPr i="0" sz="804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17"/>
          <p:cNvCxnSpPr>
            <a:endCxn id="179" idx="0"/>
          </p:cNvCxnSpPr>
          <p:nvPr/>
        </p:nvCxnSpPr>
        <p:spPr>
          <a:xfrm flipH="1">
            <a:off x="2614405" y="1054629"/>
            <a:ext cx="678000" cy="2673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17"/>
          <p:cNvCxnSpPr/>
          <p:nvPr/>
        </p:nvCxnSpPr>
        <p:spPr>
          <a:xfrm>
            <a:off x="5136045" y="1105191"/>
            <a:ext cx="0" cy="2445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17"/>
          <p:cNvCxnSpPr/>
          <p:nvPr/>
        </p:nvCxnSpPr>
        <p:spPr>
          <a:xfrm>
            <a:off x="6530531" y="1054585"/>
            <a:ext cx="396900" cy="1941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17"/>
          <p:cNvCxnSpPr>
            <a:endCxn id="177" idx="0"/>
          </p:cNvCxnSpPr>
          <p:nvPr/>
        </p:nvCxnSpPr>
        <p:spPr>
          <a:xfrm>
            <a:off x="2614450" y="3116151"/>
            <a:ext cx="0" cy="1671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17"/>
          <p:cNvCxnSpPr/>
          <p:nvPr/>
        </p:nvCxnSpPr>
        <p:spPr>
          <a:xfrm>
            <a:off x="2572394" y="2126485"/>
            <a:ext cx="0" cy="1671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17"/>
          <p:cNvCxnSpPr/>
          <p:nvPr/>
        </p:nvCxnSpPr>
        <p:spPr>
          <a:xfrm>
            <a:off x="4785791" y="3168081"/>
            <a:ext cx="0" cy="1671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17"/>
          <p:cNvCxnSpPr/>
          <p:nvPr/>
        </p:nvCxnSpPr>
        <p:spPr>
          <a:xfrm>
            <a:off x="6927416" y="3117379"/>
            <a:ext cx="0" cy="1671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17"/>
          <p:cNvCxnSpPr/>
          <p:nvPr/>
        </p:nvCxnSpPr>
        <p:spPr>
          <a:xfrm>
            <a:off x="6994308" y="2068864"/>
            <a:ext cx="0" cy="1671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17"/>
          <p:cNvCxnSpPr/>
          <p:nvPr/>
        </p:nvCxnSpPr>
        <p:spPr>
          <a:xfrm>
            <a:off x="4785791" y="2068864"/>
            <a:ext cx="0" cy="1671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17"/>
          <p:cNvSpPr/>
          <p:nvPr/>
        </p:nvSpPr>
        <p:spPr>
          <a:xfrm>
            <a:off x="1804450" y="4318276"/>
            <a:ext cx="1620000" cy="867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753" rotWithShape="0" algn="tr" dir="8100000" dist="32815">
              <a:srgbClr val="000000">
                <a:alpha val="40000"/>
              </a:srgbClr>
            </a:outerShdw>
          </a:effectLst>
        </p:spPr>
        <p:txBody>
          <a:bodyPr anchorCtr="0" anchor="ctr" bIns="39375" lIns="78725" spcFirstLastPara="1" rIns="78725" wrap="square" tIns="393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Century Gothic"/>
              <a:buNone/>
            </a:pPr>
            <a:r>
              <a:rPr lang="fr" sz="804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3.1;3 Plan de construction du système</a:t>
            </a:r>
            <a:endParaRPr i="0" sz="804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17"/>
          <p:cNvCxnSpPr>
            <a:endCxn id="196" idx="0"/>
          </p:cNvCxnSpPr>
          <p:nvPr/>
        </p:nvCxnSpPr>
        <p:spPr>
          <a:xfrm>
            <a:off x="2614450" y="4151176"/>
            <a:ext cx="0" cy="1671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/>
          <p:nvPr/>
        </p:nvSpPr>
        <p:spPr>
          <a:xfrm>
            <a:off x="5806166" y="1250796"/>
            <a:ext cx="1775400" cy="8031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267" rotWithShape="0" algn="tr" dir="8100000" dist="32450">
              <a:srgbClr val="000000">
                <a:alpha val="40000"/>
              </a:srgbClr>
            </a:outerShdw>
          </a:effectLst>
        </p:spPr>
        <p:txBody>
          <a:bodyPr anchorCtr="0" anchor="ctr" bIns="38925" lIns="77900" spcFirstLastPara="1" rIns="77900" wrap="square" tIns="38925">
            <a:no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4.4. Module de gestion des erreurs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1554650" y="3254638"/>
            <a:ext cx="1602000" cy="85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267" rotWithShape="0" algn="tr" dir="8100000" dist="32450">
              <a:srgbClr val="000000">
                <a:alpha val="40000"/>
              </a:srgbClr>
            </a:outerShdw>
          </a:effectLst>
        </p:spPr>
        <p:txBody>
          <a:bodyPr anchorCtr="0" anchor="ctr" bIns="38925" lIns="77900" spcFirstLastPara="1" rIns="77900" wrap="square" tIns="3892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5"/>
              <a:buFont typeface="Century Gothic"/>
              <a:buNone/>
            </a:pPr>
            <a:r>
              <a:rPr lang="fr" sz="79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4.1.2. Interface de configuration des nouvelles cibles.</a:t>
            </a:r>
            <a:endParaRPr i="0" sz="795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" name="Google Shape;205;p18"/>
          <p:cNvGrpSpPr/>
          <p:nvPr/>
        </p:nvGrpSpPr>
        <p:grpSpPr>
          <a:xfrm>
            <a:off x="1554655" y="477730"/>
            <a:ext cx="5700188" cy="2611211"/>
            <a:chOff x="202632" y="-748247"/>
            <a:chExt cx="5914898" cy="1704224"/>
          </a:xfrm>
        </p:grpSpPr>
        <p:sp>
          <p:nvSpPr>
            <p:cNvPr id="206" name="Google Shape;206;p18"/>
            <p:cNvSpPr/>
            <p:nvPr/>
          </p:nvSpPr>
          <p:spPr>
            <a:xfrm>
              <a:off x="202633" y="-201686"/>
              <a:ext cx="1662300" cy="524100"/>
            </a:xfrm>
            <a:prstGeom prst="roundRect">
              <a:avLst>
                <a:gd fmla="val 16667" name="adj"/>
              </a:avLst>
            </a:prstGeom>
            <a:solidFill>
              <a:srgbClr val="FFD96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3267" rotWithShape="0" algn="tr" dir="8100000" dist="32450">
                <a:srgbClr val="000000">
                  <a:alpha val="40000"/>
                </a:srgbClr>
              </a:outerShdw>
            </a:effectLst>
          </p:spPr>
          <p:txBody>
            <a:bodyPr anchorCtr="0" anchor="ctr" bIns="38925" lIns="77900" spcFirstLastPara="1" rIns="77900" wrap="square" tIns="38925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Century Gothic"/>
                <a:buNone/>
              </a:pPr>
              <a:r>
                <a:rPr lang="fr" sz="11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4.1. Développement de l'interface utilisateur </a:t>
              </a:r>
              <a:endPara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8"/>
                <a:buFont typeface="Century Gothic"/>
                <a:buNone/>
              </a:pPr>
              <a:r>
                <a:t/>
              </a:r>
              <a:endParaRPr sz="908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202632" y="396176"/>
              <a:ext cx="1662300" cy="559800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3267" rotWithShape="0" algn="tr" dir="8100000" dist="32450">
                <a:srgbClr val="000000">
                  <a:alpha val="40000"/>
                </a:srgbClr>
              </a:outerShdw>
            </a:effectLst>
          </p:spPr>
          <p:txBody>
            <a:bodyPr anchorCtr="0" anchor="ctr" bIns="38925" lIns="77900" spcFirstLastPara="1" rIns="77900" wrap="square" tIns="38925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95"/>
                <a:buFont typeface="Century Gothic"/>
                <a:buNone/>
              </a:pPr>
              <a:r>
                <a:rPr lang="fr" sz="795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4.1.1. Dashboard de monitoring des scrapers.</a:t>
              </a:r>
              <a:endParaRPr i="0" sz="79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2176767" y="-211265"/>
              <a:ext cx="2125800" cy="524100"/>
            </a:xfrm>
            <a:prstGeom prst="roundRect">
              <a:avLst>
                <a:gd fmla="val 16667" name="adj"/>
              </a:avLst>
            </a:prstGeom>
            <a:solidFill>
              <a:srgbClr val="FFD96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3267" rotWithShape="0" algn="tr" dir="8100000" dist="32450">
                <a:srgbClr val="000000">
                  <a:alpha val="40000"/>
                </a:srgbClr>
              </a:outerShdw>
            </a:effectLst>
          </p:spPr>
          <p:txBody>
            <a:bodyPr anchorCtr="0" anchor="ctr" bIns="38925" lIns="77900" spcFirstLastPara="1" rIns="77900" wrap="square" tIns="38925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Century Gothic"/>
                <a:buNone/>
              </a:pPr>
              <a:r>
                <a:rPr lang="fr" sz="11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4.2. Connecteur Power BI</a:t>
              </a:r>
              <a:endPara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8"/>
                <a:buFont typeface="Arial"/>
                <a:buNone/>
              </a:pPr>
              <a:r>
                <a:t/>
              </a:r>
              <a:endParaRPr sz="11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764031" y="-748247"/>
              <a:ext cx="5353500" cy="388800"/>
            </a:xfrm>
            <a:prstGeom prst="roundRect">
              <a:avLst>
                <a:gd fmla="val 0" name="adj"/>
              </a:avLst>
            </a:prstGeom>
            <a:solidFill>
              <a:srgbClr val="FFD96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3267" rotWithShape="0" algn="tr" dir="8100000" dist="32450">
                <a:srgbClr val="000000">
                  <a:alpha val="40000"/>
                </a:srgbClr>
              </a:outerShdw>
            </a:effectLst>
          </p:spPr>
          <p:txBody>
            <a:bodyPr anchorCtr="0" anchor="ctr" bIns="38925" lIns="77900" spcFirstLastPara="1" rIns="77900" wrap="square" tIns="38925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lang="fr" sz="11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4. Interface de Monitoring et Intégration Power BI</a:t>
              </a:r>
              <a:endPara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8"/>
                <a:buFont typeface="Century Gothic"/>
                <a:buNone/>
              </a:pPr>
              <a:r>
                <a:t/>
              </a:r>
              <a:endParaRPr b="1" i="1" sz="1100" u="sng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10" name="Google Shape;210;p18"/>
          <p:cNvSpPr/>
          <p:nvPr/>
        </p:nvSpPr>
        <p:spPr>
          <a:xfrm>
            <a:off x="3701913" y="3262104"/>
            <a:ext cx="1602000" cy="85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267" rotWithShape="0" algn="tr" dir="8100000" dist="32450">
              <a:srgbClr val="000000">
                <a:alpha val="40000"/>
              </a:srgbClr>
            </a:outerShdw>
          </a:effectLst>
        </p:spPr>
        <p:txBody>
          <a:bodyPr anchorCtr="0" anchor="ctr" bIns="38925" lIns="77900" spcFirstLastPara="1" rIns="77900" wrap="square" tIns="3892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5"/>
              <a:buFont typeface="Century Gothic"/>
              <a:buNone/>
            </a:pPr>
            <a:r>
              <a:rPr lang="fr" sz="795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4.2.2. Développement des mesures DAX complexes.</a:t>
            </a:r>
            <a:endParaRPr i="0" sz="795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3701913" y="2231174"/>
            <a:ext cx="1602000" cy="85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267" rotWithShape="0" algn="tr" dir="8100000" dist="32450">
              <a:srgbClr val="000000">
                <a:alpha val="40000"/>
              </a:srgbClr>
            </a:outerShdw>
          </a:effectLst>
        </p:spPr>
        <p:txBody>
          <a:bodyPr anchorCtr="0" anchor="ctr" bIns="38925" lIns="77900" spcFirstLastPara="1" rIns="77900" wrap="square" tIns="389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entury Gothic"/>
              <a:buNone/>
            </a:pPr>
            <a:r>
              <a:rPr lang="fr" sz="700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4.2.1. Création des vues SQL optimisées.</a:t>
            </a:r>
            <a:endParaRPr sz="700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5849176" y="3262104"/>
            <a:ext cx="1602000" cy="85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267" rotWithShape="0" algn="tr" dir="8100000" dist="32450">
              <a:srgbClr val="000000">
                <a:alpha val="40000"/>
              </a:srgbClr>
            </a:outerShdw>
          </a:effectLst>
        </p:spPr>
        <p:txBody>
          <a:bodyPr anchorCtr="0" anchor="ctr" bIns="38925" lIns="77900" spcFirstLastPara="1" rIns="77900" wrap="square" tIns="3892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5"/>
              <a:buFont typeface="Century Gothic"/>
              <a:buNone/>
            </a:pPr>
            <a:r>
              <a:rPr lang="fr" sz="795">
                <a:solidFill>
                  <a:srgbClr val="1A1918"/>
                </a:solidFill>
                <a:latin typeface="Calibri"/>
                <a:ea typeface="Calibri"/>
                <a:cs typeface="Calibri"/>
                <a:sym typeface="Calibri"/>
              </a:rPr>
              <a:t>4.3.2. Système d'alertes mail/push</a:t>
            </a:r>
            <a:endParaRPr i="0" sz="795" u="none" cap="none" strike="noStrike">
              <a:solidFill>
                <a:srgbClr val="1A1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885885" y="2231174"/>
            <a:ext cx="1602000" cy="85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267" rotWithShape="0" algn="tr" dir="8100000" dist="32450">
              <a:srgbClr val="000000">
                <a:alpha val="40000"/>
              </a:srgbClr>
            </a:outerShdw>
          </a:effectLst>
        </p:spPr>
        <p:txBody>
          <a:bodyPr anchorCtr="0" anchor="ctr" bIns="38925" lIns="77900" spcFirstLastPara="1" rIns="77900" wrap="square" tIns="3892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5"/>
              <a:buFont typeface="Century Gothic"/>
              <a:buNone/>
            </a:pPr>
            <a:r>
              <a:rPr lang="fr" sz="795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4.3.1. Design des rapports interactifs.</a:t>
            </a:r>
            <a:endParaRPr i="0" sz="795" u="none" cap="none" strike="noStrike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8"/>
          <p:cNvCxnSpPr>
            <a:endCxn id="206" idx="0"/>
          </p:cNvCxnSpPr>
          <p:nvPr/>
        </p:nvCxnSpPr>
        <p:spPr>
          <a:xfrm flipH="1">
            <a:off x="2355635" y="1050871"/>
            <a:ext cx="671100" cy="264300"/>
          </a:xfrm>
          <a:prstGeom prst="straightConnector1">
            <a:avLst/>
          </a:prstGeom>
          <a:noFill/>
          <a:ln cap="flat" cmpd="sng" w="10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18"/>
          <p:cNvCxnSpPr/>
          <p:nvPr/>
        </p:nvCxnSpPr>
        <p:spPr>
          <a:xfrm>
            <a:off x="4849218" y="1100840"/>
            <a:ext cx="0" cy="242100"/>
          </a:xfrm>
          <a:prstGeom prst="straightConnector1">
            <a:avLst/>
          </a:prstGeom>
          <a:noFill/>
          <a:ln cap="flat" cmpd="sng" w="10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18"/>
          <p:cNvCxnSpPr/>
          <p:nvPr/>
        </p:nvCxnSpPr>
        <p:spPr>
          <a:xfrm>
            <a:off x="6228205" y="1050797"/>
            <a:ext cx="392400" cy="192000"/>
          </a:xfrm>
          <a:prstGeom prst="straightConnector1">
            <a:avLst/>
          </a:prstGeom>
          <a:noFill/>
          <a:ln cap="flat" cmpd="sng" w="10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18"/>
          <p:cNvCxnSpPr>
            <a:endCxn id="204" idx="0"/>
          </p:cNvCxnSpPr>
          <p:nvPr/>
        </p:nvCxnSpPr>
        <p:spPr>
          <a:xfrm>
            <a:off x="2355650" y="3089038"/>
            <a:ext cx="0" cy="165600"/>
          </a:xfrm>
          <a:prstGeom prst="straightConnector1">
            <a:avLst/>
          </a:prstGeom>
          <a:noFill/>
          <a:ln cap="flat" cmpd="sng" w="10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18"/>
          <p:cNvCxnSpPr/>
          <p:nvPr/>
        </p:nvCxnSpPr>
        <p:spPr>
          <a:xfrm>
            <a:off x="2314059" y="2110757"/>
            <a:ext cx="0" cy="165600"/>
          </a:xfrm>
          <a:prstGeom prst="straightConnector1">
            <a:avLst/>
          </a:prstGeom>
          <a:noFill/>
          <a:ln cap="flat" cmpd="sng" w="10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18"/>
          <p:cNvCxnSpPr/>
          <p:nvPr/>
        </p:nvCxnSpPr>
        <p:spPr>
          <a:xfrm>
            <a:off x="4502857" y="3140751"/>
            <a:ext cx="0" cy="165600"/>
          </a:xfrm>
          <a:prstGeom prst="straightConnector1">
            <a:avLst/>
          </a:prstGeom>
          <a:noFill/>
          <a:ln cap="flat" cmpd="sng" w="10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18"/>
          <p:cNvCxnSpPr/>
          <p:nvPr/>
        </p:nvCxnSpPr>
        <p:spPr>
          <a:xfrm>
            <a:off x="6620679" y="3090614"/>
            <a:ext cx="0" cy="165600"/>
          </a:xfrm>
          <a:prstGeom prst="straightConnector1">
            <a:avLst/>
          </a:prstGeom>
          <a:noFill/>
          <a:ln cap="flat" cmpd="sng" w="10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18"/>
          <p:cNvCxnSpPr/>
          <p:nvPr/>
        </p:nvCxnSpPr>
        <p:spPr>
          <a:xfrm>
            <a:off x="6686828" y="2053778"/>
            <a:ext cx="0" cy="165600"/>
          </a:xfrm>
          <a:prstGeom prst="straightConnector1">
            <a:avLst/>
          </a:prstGeom>
          <a:noFill/>
          <a:ln cap="flat" cmpd="sng" w="10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18"/>
          <p:cNvCxnSpPr/>
          <p:nvPr/>
        </p:nvCxnSpPr>
        <p:spPr>
          <a:xfrm>
            <a:off x="4502857" y="2053778"/>
            <a:ext cx="0" cy="165600"/>
          </a:xfrm>
          <a:prstGeom prst="straightConnector1">
            <a:avLst/>
          </a:prstGeom>
          <a:noFill/>
          <a:ln cap="flat" cmpd="sng" w="10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/>
          <p:nvPr/>
        </p:nvSpPr>
        <p:spPr>
          <a:xfrm>
            <a:off x="5682986" y="1314543"/>
            <a:ext cx="1797600" cy="813000"/>
          </a:xfrm>
          <a:prstGeom prst="roundRect">
            <a:avLst>
              <a:gd fmla="val 16667" name="adj"/>
            </a:avLst>
          </a:prstGeom>
          <a:solidFill>
            <a:srgbClr val="FF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801" rotWithShape="0" algn="tr" dir="8100000" dist="32851">
              <a:srgbClr val="000000">
                <a:alpha val="40000"/>
              </a:srgbClr>
            </a:outerShdw>
          </a:effectLst>
        </p:spPr>
        <p:txBody>
          <a:bodyPr anchorCtr="0" anchor="ctr" bIns="39400" lIns="78825" spcFirstLastPara="1" rIns="78825" wrap="square" tIns="394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fr" sz="1000"/>
              <a:t>5.3 Stratégie de maintenance</a:t>
            </a:r>
            <a:endParaRPr sz="1000"/>
          </a:p>
        </p:txBody>
      </p:sp>
      <p:sp>
        <p:nvSpPr>
          <p:cNvPr id="229" name="Google Shape;229;p19"/>
          <p:cNvSpPr/>
          <p:nvPr/>
        </p:nvSpPr>
        <p:spPr>
          <a:xfrm>
            <a:off x="1378975" y="3343142"/>
            <a:ext cx="1621800" cy="8685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801" rotWithShape="0" algn="tr" dir="8100000" dist="32851">
              <a:srgbClr val="000000">
                <a:alpha val="40000"/>
              </a:srgbClr>
            </a:outerShdw>
          </a:effectLst>
        </p:spPr>
        <p:txBody>
          <a:bodyPr anchorCtr="0" anchor="ctr" bIns="39400" lIns="78825" spcFirstLastPara="1" rIns="78825" wrap="square" tIns="394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Century Gothic"/>
              <a:buNone/>
            </a:pPr>
            <a:r>
              <a:rPr lang="fr" sz="80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5.1.2 Vérification des interfaces d'intégration</a:t>
            </a:r>
            <a:endParaRPr i="0" sz="80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0" name="Google Shape;230;p19"/>
          <p:cNvGrpSpPr/>
          <p:nvPr/>
        </p:nvGrpSpPr>
        <p:grpSpPr>
          <a:xfrm>
            <a:off x="1378980" y="531874"/>
            <a:ext cx="5770575" cy="2643592"/>
            <a:chOff x="202632" y="-748247"/>
            <a:chExt cx="5914898" cy="1704224"/>
          </a:xfrm>
        </p:grpSpPr>
        <p:sp>
          <p:nvSpPr>
            <p:cNvPr id="231" name="Google Shape;231;p19"/>
            <p:cNvSpPr/>
            <p:nvPr/>
          </p:nvSpPr>
          <p:spPr>
            <a:xfrm>
              <a:off x="202633" y="-201686"/>
              <a:ext cx="1662300" cy="524100"/>
            </a:xfrm>
            <a:prstGeom prst="roundRect">
              <a:avLst>
                <a:gd fmla="val 16667" name="adj"/>
              </a:avLst>
            </a:prstGeom>
            <a:solidFill>
              <a:srgbClr val="FF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3801" rotWithShape="0" algn="tr" dir="8100000" dist="32851">
                <a:srgbClr val="000000">
                  <a:alpha val="40000"/>
                </a:srgbClr>
              </a:outerShdw>
            </a:effectLst>
          </p:spPr>
          <p:txBody>
            <a:bodyPr anchorCtr="0" anchor="ctr" bIns="39400" lIns="78825" spcFirstLastPara="1" rIns="78825" wrap="square" tIns="394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0"/>
                <a:buFont typeface="Century Gothic"/>
                <a:buNone/>
              </a:pPr>
              <a:r>
                <a:rPr lang="fr" sz="92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5.1 Tests unitaires et d'intégration</a:t>
              </a:r>
              <a:endParaRPr b="0" i="0" sz="92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202632" y="396176"/>
              <a:ext cx="1662300" cy="559800"/>
            </a:xfrm>
            <a:prstGeom prst="roundRect">
              <a:avLst>
                <a:gd fmla="val 16667" name="adj"/>
              </a:avLst>
            </a:prstGeom>
            <a:solidFill>
              <a:srgbClr val="D5A6B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3801" rotWithShape="0" algn="tr" dir="8100000" dist="32851">
                <a:srgbClr val="000000">
                  <a:alpha val="40000"/>
                </a:srgbClr>
              </a:outerShdw>
            </a:effectLst>
          </p:spPr>
          <p:txBody>
            <a:bodyPr anchorCtr="0" anchor="ctr" bIns="39400" lIns="78825" spcFirstLastPara="1" rIns="78825" wrap="square" tIns="3940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5"/>
                <a:buFont typeface="Century Gothic"/>
                <a:buNone/>
              </a:pPr>
              <a:r>
                <a:rPr lang="fr" sz="80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5.1.1 Couverture des tests unitaires</a:t>
              </a:r>
              <a:endParaRPr i="0" sz="80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2176767" y="-211265"/>
              <a:ext cx="2125800" cy="524100"/>
            </a:xfrm>
            <a:prstGeom prst="roundRect">
              <a:avLst>
                <a:gd fmla="val 16667" name="adj"/>
              </a:avLst>
            </a:prstGeom>
            <a:solidFill>
              <a:srgbClr val="FF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3801" rotWithShape="0" algn="tr" dir="8100000" dist="32851">
                <a:srgbClr val="000000">
                  <a:alpha val="40000"/>
                </a:srgbClr>
              </a:outerShdw>
            </a:effectLst>
          </p:spPr>
          <p:txBody>
            <a:bodyPr anchorCtr="0" anchor="ctr" bIns="39400" lIns="78825" spcFirstLastPara="1" rIns="78825" wrap="square" tIns="39400">
              <a:noAutofit/>
            </a:bodyPr>
            <a:lstStyle/>
            <a:p>
              <a:pPr indent="0" lvl="0" marL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0"/>
                <a:buFont typeface="Arial"/>
                <a:buNone/>
              </a:pPr>
              <a:r>
                <a:rPr lang="fr" sz="920">
                  <a:latin typeface="Century Gothic"/>
                  <a:ea typeface="Century Gothic"/>
                  <a:cs typeface="Century Gothic"/>
                  <a:sym typeface="Century Gothic"/>
                </a:rPr>
                <a:t>5.2 Prototype fonctionnel</a:t>
              </a:r>
              <a:endParaRPr sz="92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764031" y="-748247"/>
              <a:ext cx="5353500" cy="388800"/>
            </a:xfrm>
            <a:prstGeom prst="roundRect">
              <a:avLst>
                <a:gd fmla="val 0" name="adj"/>
              </a:avLst>
            </a:prstGeom>
            <a:solidFill>
              <a:srgbClr val="FF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3801" rotWithShape="0" algn="tr" dir="8100000" dist="32851">
                <a:srgbClr val="000000">
                  <a:alpha val="40000"/>
                </a:srgbClr>
              </a:outerShdw>
            </a:effectLst>
          </p:spPr>
          <p:txBody>
            <a:bodyPr anchorCtr="0" anchor="ctr" bIns="39400" lIns="78825" spcFirstLastPara="1" rIns="78825" wrap="square" tIns="39400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0"/>
                <a:buFont typeface="Century Gothic"/>
                <a:buNone/>
              </a:pPr>
              <a:r>
                <a:rPr b="1" i="1" lang="fr" sz="1150" u="sng">
                  <a:latin typeface="Century Gothic"/>
                  <a:ea typeface="Century Gothic"/>
                  <a:cs typeface="Century Gothic"/>
                  <a:sym typeface="Century Gothic"/>
                </a:rPr>
                <a:t>5. Développement d’un outil d’automatisation pour l’analyse des filières industrielles </a:t>
              </a:r>
              <a:endParaRPr b="1" i="1" sz="115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9"/>
          <p:cNvSpPr/>
          <p:nvPr/>
        </p:nvSpPr>
        <p:spPr>
          <a:xfrm>
            <a:off x="3552751" y="3350701"/>
            <a:ext cx="1621800" cy="8685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801" rotWithShape="0" algn="tr" dir="8100000" dist="32851">
              <a:srgbClr val="000000">
                <a:alpha val="40000"/>
              </a:srgbClr>
            </a:outerShdw>
          </a:effectLst>
        </p:spPr>
        <p:txBody>
          <a:bodyPr anchorCtr="0" anchor="ctr" bIns="39400" lIns="78825" spcFirstLastPara="1" rIns="78825" wrap="square" tIns="394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Century Gothic"/>
              <a:buNone/>
            </a:pPr>
            <a:r>
              <a:rPr lang="fr" sz="80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5.2.2 Audit de la précision des données</a:t>
            </a:r>
            <a:endParaRPr i="0" sz="80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3552751" y="2307033"/>
            <a:ext cx="1621800" cy="8685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801" rotWithShape="0" algn="tr" dir="8100000" dist="32851">
              <a:srgbClr val="000000">
                <a:alpha val="40000"/>
              </a:srgbClr>
            </a:outerShdw>
          </a:effectLst>
        </p:spPr>
        <p:txBody>
          <a:bodyPr anchorCtr="0" anchor="ctr" bIns="39400" lIns="78825" spcFirstLastPara="1" rIns="78825" wrap="square" tIns="394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Century Gothic"/>
              <a:buNone/>
            </a:pPr>
            <a:r>
              <a:rPr lang="fr" sz="80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5.2.1 Tests de montée en charge</a:t>
            </a:r>
            <a:endParaRPr i="0" sz="80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5726527" y="3350701"/>
            <a:ext cx="1621800" cy="8685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801" rotWithShape="0" algn="tr" dir="8100000" dist="32851">
              <a:srgbClr val="000000">
                <a:alpha val="40000"/>
              </a:srgbClr>
            </a:outerShdw>
          </a:effectLst>
        </p:spPr>
        <p:txBody>
          <a:bodyPr anchorCtr="0" anchor="ctr" bIns="39400" lIns="78825" spcFirstLastPara="1" rIns="78825" wrap="square" tIns="394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Century Gothic"/>
              <a:buNone/>
            </a:pPr>
            <a:r>
              <a:rPr lang="fr" sz="80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5.3.2 Maintenance Corrective (Gestion des incidents)</a:t>
            </a:r>
            <a:endParaRPr sz="80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5763689" y="2307033"/>
            <a:ext cx="1621800" cy="8685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801" rotWithShape="0" algn="tr" dir="8100000" dist="32851">
              <a:srgbClr val="000000">
                <a:alpha val="40000"/>
              </a:srgbClr>
            </a:outerShdw>
          </a:effectLst>
        </p:spPr>
        <p:txBody>
          <a:bodyPr anchorCtr="0" anchor="ctr" bIns="39400" lIns="78825" spcFirstLastPara="1" rIns="78825" wrap="square" tIns="394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Century Gothic"/>
              <a:buNone/>
            </a:pPr>
            <a:r>
              <a:rPr lang="fr" sz="80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5.3.1 Monitoring et Supervision</a:t>
            </a:r>
            <a:endParaRPr i="0" sz="80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19"/>
          <p:cNvCxnSpPr>
            <a:endCxn id="231" idx="0"/>
          </p:cNvCxnSpPr>
          <p:nvPr/>
        </p:nvCxnSpPr>
        <p:spPr>
          <a:xfrm flipH="1">
            <a:off x="2189851" y="1112100"/>
            <a:ext cx="679200" cy="2676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19"/>
          <p:cNvCxnSpPr/>
          <p:nvPr/>
        </p:nvCxnSpPr>
        <p:spPr>
          <a:xfrm>
            <a:off x="4714222" y="1162734"/>
            <a:ext cx="0" cy="2448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19"/>
          <p:cNvCxnSpPr/>
          <p:nvPr/>
        </p:nvCxnSpPr>
        <p:spPr>
          <a:xfrm>
            <a:off x="6110236" y="1112073"/>
            <a:ext cx="397500" cy="1944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19"/>
          <p:cNvCxnSpPr>
            <a:endCxn id="229" idx="0"/>
          </p:cNvCxnSpPr>
          <p:nvPr/>
        </p:nvCxnSpPr>
        <p:spPr>
          <a:xfrm>
            <a:off x="2189875" y="3175442"/>
            <a:ext cx="0" cy="1677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19"/>
          <p:cNvCxnSpPr/>
          <p:nvPr/>
        </p:nvCxnSpPr>
        <p:spPr>
          <a:xfrm>
            <a:off x="2147761" y="2185129"/>
            <a:ext cx="0" cy="1677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19"/>
          <p:cNvCxnSpPr/>
          <p:nvPr/>
        </p:nvCxnSpPr>
        <p:spPr>
          <a:xfrm>
            <a:off x="4363584" y="3177098"/>
            <a:ext cx="0" cy="1677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19"/>
          <p:cNvCxnSpPr/>
          <p:nvPr/>
        </p:nvCxnSpPr>
        <p:spPr>
          <a:xfrm>
            <a:off x="6507556" y="3177092"/>
            <a:ext cx="0" cy="1677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19"/>
          <p:cNvCxnSpPr/>
          <p:nvPr/>
        </p:nvCxnSpPr>
        <p:spPr>
          <a:xfrm>
            <a:off x="6574522" y="2127446"/>
            <a:ext cx="0" cy="1677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19"/>
          <p:cNvCxnSpPr/>
          <p:nvPr/>
        </p:nvCxnSpPr>
        <p:spPr>
          <a:xfrm>
            <a:off x="4363584" y="2185121"/>
            <a:ext cx="0" cy="1677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19"/>
          <p:cNvSpPr/>
          <p:nvPr/>
        </p:nvSpPr>
        <p:spPr>
          <a:xfrm>
            <a:off x="3589920" y="4386772"/>
            <a:ext cx="1621800" cy="8685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3801" rotWithShape="0" algn="tr" dir="8100000" dist="32851">
              <a:srgbClr val="000000">
                <a:alpha val="40000"/>
              </a:srgbClr>
            </a:outerShdw>
          </a:effectLst>
        </p:spPr>
        <p:txBody>
          <a:bodyPr anchorCtr="0" anchor="ctr" bIns="39400" lIns="78825" spcFirstLastPara="1" rIns="78825" wrap="square" tIns="394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Century Gothic"/>
              <a:buNone/>
            </a:pPr>
            <a:r>
              <a:rPr lang="fr" sz="80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5.2.3 Test d'Acceptation Utilisateur </a:t>
            </a:r>
            <a:endParaRPr i="0" sz="80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19"/>
          <p:cNvCxnSpPr/>
          <p:nvPr/>
        </p:nvCxnSpPr>
        <p:spPr>
          <a:xfrm>
            <a:off x="4400828" y="4211645"/>
            <a:ext cx="0" cy="167700"/>
          </a:xfrm>
          <a:prstGeom prst="straightConnector1">
            <a:avLst/>
          </a:prstGeom>
          <a:noFill/>
          <a:ln cap="flat" cmpd="sng" w="1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0" name="Google Shape;25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