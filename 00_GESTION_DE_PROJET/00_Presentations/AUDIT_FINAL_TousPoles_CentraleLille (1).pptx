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embeddedFontLst>
    <p:embeddedFont>
      <p:font typeface="Teko"/>
      <p:regular r:id="rId14"/>
      <p:bold r:id="rId15"/>
    </p:embeddedFont>
    <p:embeddedFont>
      <p:font typeface="Lora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hYWSBcG1ODvBAirKoU1EkXXJAI0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Teko-bold.fntdata"/><Relationship Id="rId14" Type="http://schemas.openxmlformats.org/officeDocument/2006/relationships/font" Target="fonts/Teko-regular.fntdata"/><Relationship Id="rId17" Type="http://schemas.openxmlformats.org/officeDocument/2006/relationships/font" Target="fonts/Lora-bold.fntdata"/><Relationship Id="rId16" Type="http://schemas.openxmlformats.org/officeDocument/2006/relationships/font" Target="fonts/Lora-regular.fntdata"/><Relationship Id="rId5" Type="http://schemas.openxmlformats.org/officeDocument/2006/relationships/slide" Target="slides/slide1.xml"/><Relationship Id="rId19" Type="http://schemas.openxmlformats.org/officeDocument/2006/relationships/font" Target="fonts/Lora-boldItalic.fntdata"/><Relationship Id="rId6" Type="http://schemas.openxmlformats.org/officeDocument/2006/relationships/slide" Target="slides/slide2.xml"/><Relationship Id="rId18" Type="http://schemas.openxmlformats.org/officeDocument/2006/relationships/font" Target="fonts/Lora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d974640d6f_1_0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" name="Google Shape;25;g3d974640d6f_1_0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d974640d6f_1_3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" name="Google Shape;29;g3d974640d6f_1_3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d974640d6f_1_6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" name="Google Shape;33;g3d974640d6f_1_6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" name="Google Shape;37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" name="Google Shape;75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" name="Google Shape;137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" name="Google Shape;173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2" name="Google Shape;212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4594860"/>
            <a:ext cx="3044952" cy="5486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3044952" y="4594860"/>
            <a:ext cx="3054096" cy="548640"/>
          </a:xfrm>
          <a:prstGeom prst="rect">
            <a:avLst/>
          </a:prstGeom>
          <a:solidFill>
            <a:srgbClr val="C061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6099048" y="4594860"/>
            <a:ext cx="3044952" cy="548640"/>
          </a:xfrm>
          <a:prstGeom prst="rect">
            <a:avLst/>
          </a:prstGeom>
          <a:solidFill>
            <a:srgbClr val="1E609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0" y="4594860"/>
            <a:ext cx="30449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Scrapping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3044952" y="4594860"/>
            <a:ext cx="305409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Intelligence Artificielle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6099048" y="4594860"/>
            <a:ext cx="30449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48640" y="502920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Audit d'avancement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48640" y="1188720"/>
            <a:ext cx="82296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2F2F2"/>
                </a:solidFill>
                <a:latin typeface="Teko"/>
                <a:ea typeface="Teko"/>
                <a:cs typeface="Teko"/>
                <a:sym typeface="Teko"/>
              </a:rPr>
              <a:t>Développement d’un outil d’automatisation  pour l’analyse des filières industrielles : Enrichissement et automatisation de la collecte des données </a:t>
            </a:r>
            <a:endParaRPr sz="2800">
              <a:solidFill>
                <a:srgbClr val="F2F2F2"/>
              </a:solidFill>
              <a:latin typeface="Teko"/>
              <a:ea typeface="Teko"/>
              <a:cs typeface="Teko"/>
              <a:sym typeface="Teko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48640" y="3200400"/>
            <a:ext cx="365760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" name="Google Shape;2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21720" y="-28135"/>
            <a:ext cx="2136530" cy="12819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-2049 | Réindustrialisation" id="22" name="Google Shape;2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25136" y="242961"/>
            <a:ext cx="739726" cy="739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A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11480" y="91440"/>
            <a:ext cx="83210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365760" y="2514600"/>
            <a:ext cx="841248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3154680" y="22860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2800"/>
              <a:buFont typeface="Georgia"/>
              <a:buNone/>
            </a:pPr>
            <a:r>
              <a:rPr lang="en-US" sz="2800">
                <a:solidFill>
                  <a:srgbClr val="AAAAAA"/>
                </a:solidFill>
                <a:latin typeface="Georgia"/>
                <a:ea typeface="Georgia"/>
                <a:cs typeface="Georgia"/>
                <a:sym typeface="Georgia"/>
              </a:rPr>
              <a:t>›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5897880" y="22860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2800"/>
              <a:buFont typeface="Georgia"/>
              <a:buNone/>
            </a:pPr>
            <a:r>
              <a:rPr lang="en-US" sz="2800">
                <a:solidFill>
                  <a:srgbClr val="AAAAAA"/>
                </a:solidFill>
                <a:latin typeface="Georgia"/>
                <a:ea typeface="Georgia"/>
                <a:cs typeface="Georgia"/>
                <a:sym typeface="Georgia"/>
              </a:rPr>
              <a:t>›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320040" y="1051560"/>
            <a:ext cx="2743200" cy="3794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320040" y="1051560"/>
            <a:ext cx="2743200" cy="109728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320040" y="1161288"/>
            <a:ext cx="2743200" cy="566928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411480" y="1179576"/>
            <a:ext cx="25603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1" lang="en-US" sz="13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Pôle Scrapping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411480" y="1828800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  <a:t>Cisco  ·  Isidore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429768" y="2212848"/>
            <a:ext cx="2523744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Collecte les données sur les sites du client de façon automatique.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777240" y="2907792"/>
            <a:ext cx="182880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429768" y="2990088"/>
            <a:ext cx="25237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  <a:t>en cours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429768" y="3291840"/>
            <a:ext cx="252374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Formation en cours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Conception du robot à venir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3264408" y="1051560"/>
            <a:ext cx="2743200" cy="3794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3264408" y="1051560"/>
            <a:ext cx="2743200" cy="109728"/>
          </a:xfrm>
          <a:prstGeom prst="rect">
            <a:avLst/>
          </a:prstGeom>
          <a:solidFill>
            <a:srgbClr val="C061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3264408" y="1161288"/>
            <a:ext cx="2743200" cy="566928"/>
          </a:xfrm>
          <a:prstGeom prst="rect">
            <a:avLst/>
          </a:prstGeom>
          <a:solidFill>
            <a:srgbClr val="C061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3355848" y="1179576"/>
            <a:ext cx="25603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1" lang="en-US" sz="13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Pôle Intelligence Artificielle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3355848" y="1828800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614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0614A"/>
                </a:solidFill>
                <a:latin typeface="Calibri"/>
                <a:ea typeface="Calibri"/>
                <a:cs typeface="Calibri"/>
                <a:sym typeface="Calibri"/>
              </a:rPr>
              <a:t>Jean-Baptiste  ·  Paul  ·  Zhongman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3374136" y="2212848"/>
            <a:ext cx="2523744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Entraîne l'intelligence à lire et comprendre les données collectées.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3721608" y="2907792"/>
            <a:ext cx="182880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3374136" y="2990088"/>
            <a:ext cx="25237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614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C0614A"/>
                </a:solidFill>
                <a:latin typeface="Calibri"/>
                <a:ea typeface="Calibri"/>
                <a:cs typeface="Calibri"/>
                <a:sym typeface="Calibri"/>
              </a:rPr>
              <a:t>en cours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3374136" y="3291840"/>
            <a:ext cx="252374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Formation commune réalisée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Définition des paramètres engagée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6208776" y="1051560"/>
            <a:ext cx="2743200" cy="3794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6208776" y="1051560"/>
            <a:ext cx="2743200" cy="109728"/>
          </a:xfrm>
          <a:prstGeom prst="rect">
            <a:avLst/>
          </a:prstGeom>
          <a:solidFill>
            <a:srgbClr val="1E609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6208776" y="1161288"/>
            <a:ext cx="2743200" cy="566928"/>
          </a:xfrm>
          <a:prstGeom prst="rect">
            <a:avLst/>
          </a:prstGeom>
          <a:solidFill>
            <a:srgbClr val="1E609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6300216" y="1179576"/>
            <a:ext cx="25603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1" lang="en-US" sz="13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Pôle Data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6300216" y="1828800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609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E6091"/>
                </a:solidFill>
                <a:latin typeface="Calibri"/>
                <a:ea typeface="Calibri"/>
                <a:cs typeface="Calibri"/>
                <a:sym typeface="Calibri"/>
              </a:rPr>
              <a:t>Rana  ·  Yessine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6318504" y="2212848"/>
            <a:ext cx="2523744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Analyse, visualise et automatise le traitement des données reçues.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6665976" y="2907792"/>
            <a:ext cx="182880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6318504" y="2990088"/>
            <a:ext cx="25237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6091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E6091"/>
                </a:solidFill>
                <a:latin typeface="Calibri"/>
                <a:ea typeface="Calibri"/>
                <a:cs typeface="Calibri"/>
                <a:sym typeface="Calibri"/>
              </a:rPr>
              <a:t>en cours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6318504" y="3291840"/>
            <a:ext cx="252374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alibri"/>
              <a:buNone/>
            </a:pPr>
            <a:r>
              <a:t/>
            </a:r>
            <a:endParaRPr sz="1050">
              <a:solidFill>
                <a:srgbClr val="4444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Formation Microsoft </a:t>
            </a:r>
            <a:endParaRPr sz="1050">
              <a:solidFill>
                <a:srgbClr val="4444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alibri"/>
              <a:buNone/>
            </a:pPr>
            <a:r>
              <a:t/>
            </a:r>
            <a:endParaRPr sz="1050">
              <a:solidFill>
                <a:srgbClr val="44444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A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411480" y="91440"/>
            <a:ext cx="83210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GANTT </a:t>
            </a:r>
            <a:r>
              <a:rPr b="1" lang="en-US" sz="2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 simple  du projet </a:t>
            </a:r>
            <a:endParaRPr b="1" sz="28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Mars 2026 à Janvier 2027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457200" y="1828800"/>
            <a:ext cx="822960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457200" y="1755648"/>
            <a:ext cx="54864" cy="201168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182880" y="1938528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Mars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1691640" y="1755648"/>
            <a:ext cx="54864" cy="201168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1399033" y="1933966"/>
            <a:ext cx="640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Avr.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3291840" y="1755648"/>
            <a:ext cx="54864" cy="201168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3017520" y="1938528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Juin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5120640" y="1755648"/>
            <a:ext cx="54864" cy="201168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4846320" y="1938528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Sept.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6035040" y="1755648"/>
            <a:ext cx="54864" cy="201168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5760720" y="1938528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Oct.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7315200" y="1755648"/>
            <a:ext cx="54864" cy="201168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7040880" y="1938528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Déc.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8412480" y="1755648"/>
            <a:ext cx="54864" cy="201168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8138160" y="1938528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Jan.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2027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45720" y="2468880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  <a:t>Scrapping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1188720" y="2487168"/>
            <a:ext cx="640080" cy="3200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1188720" y="2487168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Formation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1874520" y="2487168"/>
            <a:ext cx="1463040" cy="3200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1874524" y="2487175"/>
            <a:ext cx="1143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Construction robot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3383280" y="2487168"/>
            <a:ext cx="914400" cy="320040"/>
          </a:xfrm>
          <a:prstGeom prst="rect">
            <a:avLst/>
          </a:prstGeom>
          <a:solidFill>
            <a:srgbClr val="1A3D1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3383280" y="2487168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Apprentissage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45720" y="2944368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614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0614A"/>
                </a:solidFill>
                <a:latin typeface="Calibri"/>
                <a:ea typeface="Calibri"/>
                <a:cs typeface="Calibri"/>
                <a:sym typeface="Calibri"/>
              </a:rPr>
              <a:t>Pôle IA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1188720" y="2962656"/>
            <a:ext cx="502920" cy="320040"/>
          </a:xfrm>
          <a:prstGeom prst="rect">
            <a:avLst/>
          </a:prstGeom>
          <a:solidFill>
            <a:srgbClr val="C061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1188720" y="2962656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Formation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1719072" y="2962656"/>
            <a:ext cx="1371600" cy="320040"/>
          </a:xfrm>
          <a:prstGeom prst="rect">
            <a:avLst/>
          </a:prstGeom>
          <a:solidFill>
            <a:srgbClr val="C061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1719072" y="2962656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Paramètres &amp; Exemples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3127248" y="2962656"/>
            <a:ext cx="1828800" cy="320040"/>
          </a:xfrm>
          <a:prstGeom prst="rect">
            <a:avLst/>
          </a:prstGeom>
          <a:solidFill>
            <a:srgbClr val="8B3A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3127248" y="2962656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Entraînement de l'IA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4983480" y="2962656"/>
            <a:ext cx="502920" cy="320040"/>
          </a:xfrm>
          <a:prstGeom prst="rect">
            <a:avLst/>
          </a:prstGeom>
          <a:solidFill>
            <a:srgbClr val="8B3A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4983480" y="2962656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45720" y="3401568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4C9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6B4C9A"/>
                </a:solidFill>
                <a:latin typeface="Calibri"/>
                <a:ea typeface="Calibri"/>
                <a:cs typeface="Calibri"/>
                <a:sym typeface="Calibri"/>
              </a:rPr>
              <a:t>Connexion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4754903" y="3419850"/>
            <a:ext cx="502800" cy="320100"/>
          </a:xfrm>
          <a:prstGeom prst="rect">
            <a:avLst/>
          </a:prstGeom>
          <a:solidFill>
            <a:srgbClr val="6B4C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4855400" y="3419850"/>
            <a:ext cx="32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Form.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5257698" y="3419850"/>
            <a:ext cx="1627800" cy="320100"/>
          </a:xfrm>
          <a:prstGeom prst="rect">
            <a:avLst/>
          </a:prstGeom>
          <a:solidFill>
            <a:srgbClr val="6B4C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5371100" y="3419850"/>
            <a:ext cx="1514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Connexion IA/Robot + Nettoyage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45720" y="3858768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609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E6091"/>
                </a:solidFill>
                <a:latin typeface="Calibri"/>
                <a:ea typeface="Calibri"/>
                <a:cs typeface="Calibri"/>
                <a:sym typeface="Calibri"/>
              </a:rPr>
              <a:t>Pôle Data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1188726" y="3877050"/>
            <a:ext cx="640200" cy="320100"/>
          </a:xfrm>
          <a:prstGeom prst="rect">
            <a:avLst/>
          </a:prstGeom>
          <a:solidFill>
            <a:srgbClr val="1E609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1188725" y="3877050"/>
            <a:ext cx="457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</a:pPr>
            <a:r>
              <a:rPr lang="en-US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formation</a:t>
            </a:r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6035040" y="3877056"/>
            <a:ext cx="640080" cy="320040"/>
          </a:xfrm>
          <a:prstGeom prst="rect">
            <a:avLst/>
          </a:prstGeom>
          <a:solidFill>
            <a:srgbClr val="1E609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6034890" y="3877056"/>
            <a:ext cx="640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Récep.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6702552" y="3877056"/>
            <a:ext cx="822960" cy="320040"/>
          </a:xfrm>
          <a:prstGeom prst="rect">
            <a:avLst/>
          </a:prstGeom>
          <a:solidFill>
            <a:srgbClr val="0D3D5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6702552" y="3877056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EDA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7552944" y="3877056"/>
            <a:ext cx="914400" cy="320040"/>
          </a:xfrm>
          <a:prstGeom prst="rect">
            <a:avLst/>
          </a:prstGeom>
          <a:solidFill>
            <a:srgbClr val="0D3D5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7552944" y="3877056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1188720" y="4407408"/>
            <a:ext cx="228600" cy="2286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1463040" y="4407408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Scrapping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3108960" y="4407408"/>
            <a:ext cx="228600" cy="228600"/>
          </a:xfrm>
          <a:prstGeom prst="rect">
            <a:avLst/>
          </a:prstGeom>
          <a:solidFill>
            <a:srgbClr val="C061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3383280" y="4407408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Pôle IA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5029200" y="4407408"/>
            <a:ext cx="228600" cy="228600"/>
          </a:xfrm>
          <a:prstGeom prst="rect">
            <a:avLst/>
          </a:prstGeom>
          <a:solidFill>
            <a:srgbClr val="6B4C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5303526" y="4407399"/>
            <a:ext cx="1581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Connexion Data et Scrapping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6949440" y="4407408"/>
            <a:ext cx="228600" cy="228600"/>
          </a:xfrm>
          <a:prstGeom prst="rect">
            <a:avLst/>
          </a:prstGeom>
          <a:solidFill>
            <a:srgbClr val="1E609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7223760" y="4407408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5577849" y="2464275"/>
            <a:ext cx="1216200" cy="3201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</a:pPr>
            <a:r>
              <a:rPr lang="en-US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maintenance </a:t>
            </a:r>
            <a:r>
              <a:rPr lang="en-US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robot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F4E8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0" y="0"/>
            <a:ext cx="365760" cy="1234440"/>
          </a:xfrm>
          <a:prstGeom prst="rect">
            <a:avLst/>
          </a:prstGeom>
          <a:solidFill>
            <a:srgbClr val="1A3D1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502920" y="73152"/>
            <a:ext cx="6400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b="1" lang="en-US" sz="3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Pôle Scrapping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502920" y="749808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E6C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C8E6C8"/>
                </a:solidFill>
                <a:latin typeface="Calibri"/>
                <a:ea typeface="Calibri"/>
                <a:cs typeface="Calibri"/>
                <a:sym typeface="Calibri"/>
              </a:rPr>
              <a:t>Cisco  ·  Isidore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7132320" y="347472"/>
            <a:ext cx="1737360" cy="502920"/>
          </a:xfrm>
          <a:prstGeom prst="rect">
            <a:avLst/>
          </a:prstGeom>
          <a:solidFill>
            <a:srgbClr val="1A3D1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7132320" y="347472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 cours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320040" y="1371600"/>
            <a:ext cx="5303520" cy="3520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320040" y="1371600"/>
            <a:ext cx="5303520" cy="914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457200" y="1508760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D1B"/>
              </a:buClr>
              <a:buSzPts val="1500"/>
              <a:buFont typeface="Georgia"/>
              <a:buNone/>
            </a:pPr>
            <a:r>
              <a:rPr b="1" lang="en-US" sz="1500">
                <a:solidFill>
                  <a:srgbClr val="1A3D1B"/>
                </a:solidFill>
                <a:latin typeface="Georgia"/>
                <a:ea typeface="Georgia"/>
                <a:cs typeface="Georgia"/>
                <a:sym typeface="Georgia"/>
              </a:rPr>
              <a:t>Les rôle et les étapes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457200" y="2029968"/>
            <a:ext cx="475488" cy="475488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457200" y="2029968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None/>
            </a:pPr>
            <a:r>
              <a:rPr b="1" lang="en-US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T3.0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1024128" y="2048256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D1B"/>
              </a:buClr>
              <a:buSzPts val="1300"/>
              <a:buFont typeface="Georgia"/>
              <a:buNone/>
            </a:pPr>
            <a:r>
              <a:rPr b="1" lang="en-US" sz="1300">
                <a:solidFill>
                  <a:srgbClr val="1A3D1B"/>
                </a:solidFill>
                <a:latin typeface="Georgia"/>
                <a:ea typeface="Georgia"/>
                <a:cs typeface="Georgia"/>
                <a:sym typeface="Georgia"/>
              </a:rPr>
              <a:t>Se former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1024128" y="2368296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Formation aux outils de collecte automatique en Python.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4572000" y="212140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  <a:t>Mars — Avril 2026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457200" y="2926080"/>
            <a:ext cx="475488" cy="475488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457200" y="2926080"/>
            <a:ext cx="475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None/>
            </a:pPr>
            <a:r>
              <a:rPr b="1" lang="en-US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T3.1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1024128" y="2944368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D1B"/>
              </a:buClr>
              <a:buSzPts val="1300"/>
              <a:buFont typeface="Georgia"/>
              <a:buNone/>
            </a:pPr>
            <a:r>
              <a:rPr b="1" lang="en-US" sz="1300">
                <a:solidFill>
                  <a:srgbClr val="1A3D1B"/>
                </a:solidFill>
                <a:latin typeface="Georgia"/>
                <a:ea typeface="Georgia"/>
                <a:cs typeface="Georgia"/>
                <a:sym typeface="Georgia"/>
              </a:rPr>
              <a:t>Construire le robot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1024128" y="3264408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Développement du robot qui navigue sur les sites du client et en extrait les données utiles automatiquement.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4572000" y="30175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  <a:t>Avril — Juin 2026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457200" y="3822192"/>
            <a:ext cx="475488" cy="475488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457200" y="3822192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None/>
            </a:pPr>
            <a:r>
              <a:rPr b="1" lang="en-US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T3.2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1024128" y="384048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D1B"/>
              </a:buClr>
              <a:buSzPts val="1300"/>
              <a:buFont typeface="Georgia"/>
              <a:buNone/>
            </a:pPr>
            <a:r>
              <a:rPr b="1" lang="en-US" sz="1300">
                <a:solidFill>
                  <a:srgbClr val="1A3D1B"/>
                </a:solidFill>
                <a:latin typeface="Georgia"/>
                <a:ea typeface="Georgia"/>
                <a:cs typeface="Georgia"/>
                <a:sym typeface="Georgia"/>
              </a:rPr>
              <a:t>Entraîner le robot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1024128" y="4160520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Apprentissage du robot pour s'adapter aux différentes structures de pages et gérer les changements.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4572000" y="391363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  <a:t>Juin 2026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5806440" y="3200400"/>
            <a:ext cx="301752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/>
          <p:nvPr/>
        </p:nvSpPr>
        <p:spPr>
          <a:xfrm>
            <a:off x="5806440" y="3200400"/>
            <a:ext cx="3017520" cy="914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5943600" y="33375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D1B"/>
              </a:buClr>
              <a:buSzPts val="1300"/>
              <a:buFont typeface="Georgia"/>
              <a:buNone/>
            </a:pPr>
            <a:r>
              <a:rPr b="1" lang="en-US" sz="1300">
                <a:solidFill>
                  <a:srgbClr val="1A3D1B"/>
                </a:solidFill>
                <a:latin typeface="Georgia"/>
                <a:ea typeface="Georgia"/>
                <a:cs typeface="Georgia"/>
                <a:sym typeface="Georgia"/>
              </a:rPr>
              <a:t>Prochaine étape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5943600" y="3767328"/>
            <a:ext cx="54864" cy="91440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6080760" y="3749040"/>
            <a:ext cx="2606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Commencer la conception du robot scraper en Python. Premiers tests de navigation sur les sites cibles.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5806490" y="1371575"/>
            <a:ext cx="3017400" cy="1691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1A3D1B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A3D1B"/>
                </a:solidFill>
                <a:latin typeface="Lora"/>
                <a:ea typeface="Lora"/>
                <a:cs typeface="Lora"/>
                <a:sym typeface="Lora"/>
              </a:rPr>
              <a:t> Construire le robot</a:t>
            </a:r>
            <a:endParaRPr b="1" sz="1300">
              <a:solidFill>
                <a:srgbClr val="1A3D1B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Analyse des sources et définition de la stratégie</a:t>
            </a:r>
            <a:endParaRPr sz="1100">
              <a:solidFill>
                <a:srgbClr val="4444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choix de l'architecture du robot</a:t>
            </a:r>
            <a:endParaRPr sz="1100">
              <a:solidFill>
                <a:srgbClr val="4444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développement du moteur d'extraction</a:t>
            </a:r>
            <a:endParaRPr sz="1100">
              <a:solidFill>
                <a:srgbClr val="4444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Traitement des données extraites</a:t>
            </a:r>
            <a:endParaRPr sz="1100">
              <a:solidFill>
                <a:srgbClr val="4444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1A3D1B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5806490" y="1371575"/>
            <a:ext cx="3017400" cy="915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0EE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C061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0" y="0"/>
            <a:ext cx="365760" cy="1234440"/>
          </a:xfrm>
          <a:prstGeom prst="rect">
            <a:avLst/>
          </a:prstGeom>
          <a:solidFill>
            <a:srgbClr val="8B3A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502920" y="73152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lang="en-US" sz="3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Pôle Intelligence Artificielle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502920" y="749808"/>
            <a:ext cx="5486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5CF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FAD5CF"/>
                </a:solidFill>
                <a:latin typeface="Calibri"/>
                <a:ea typeface="Calibri"/>
                <a:cs typeface="Calibri"/>
                <a:sym typeface="Calibri"/>
              </a:rPr>
              <a:t>Jean-Baptiste  ·  Paul  ·  Zhongman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7132320" y="347472"/>
            <a:ext cx="1737360" cy="502920"/>
          </a:xfrm>
          <a:prstGeom prst="rect">
            <a:avLst/>
          </a:prstGeom>
          <a:solidFill>
            <a:srgbClr val="8B3A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7132320" y="347472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 cours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320040" y="1371600"/>
            <a:ext cx="5303520" cy="3520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320040" y="1371600"/>
            <a:ext cx="5303520" cy="91440"/>
          </a:xfrm>
          <a:prstGeom prst="rect">
            <a:avLst/>
          </a:prstGeom>
          <a:solidFill>
            <a:srgbClr val="C061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457200" y="1508760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3A2A"/>
              </a:buClr>
              <a:buSzPts val="1500"/>
              <a:buFont typeface="Georgia"/>
              <a:buNone/>
            </a:pPr>
            <a:r>
              <a:rPr b="1" lang="en-US" sz="1500">
                <a:solidFill>
                  <a:srgbClr val="8B3A2A"/>
                </a:solidFill>
                <a:latin typeface="Georgia"/>
                <a:ea typeface="Georgia"/>
                <a:cs typeface="Georgia"/>
                <a:sym typeface="Georgia"/>
              </a:rPr>
              <a:t>Les rôle et les étapes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457200" y="1993392"/>
            <a:ext cx="475488" cy="457200"/>
          </a:xfrm>
          <a:prstGeom prst="rect">
            <a:avLst/>
          </a:prstGeom>
          <a:solidFill>
            <a:srgbClr val="C061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457200" y="1993392"/>
            <a:ext cx="4754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Georgia"/>
              <a:buNone/>
            </a:pPr>
            <a:r>
              <a:rPr b="1" lang="en-US" sz="9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T2.0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1024128" y="2011680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3A2A"/>
              </a:buClr>
              <a:buSzPts val="1200"/>
              <a:buFont typeface="Georgia"/>
              <a:buNone/>
            </a:pPr>
            <a:r>
              <a:rPr b="1" lang="en-US" sz="1200">
                <a:solidFill>
                  <a:srgbClr val="8B3A2A"/>
                </a:solidFill>
                <a:latin typeface="Georgia"/>
                <a:ea typeface="Georgia"/>
                <a:cs typeface="Georgia"/>
                <a:sym typeface="Georgia"/>
              </a:rPr>
              <a:t>Se former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1024128" y="228600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Formation commune aux outils d'intelligence artificielle et de scraping.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4572000" y="2066544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0614A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C0614A"/>
                </a:solidFill>
                <a:latin typeface="Calibri"/>
                <a:ea typeface="Calibri"/>
                <a:cs typeface="Calibri"/>
                <a:sym typeface="Calibri"/>
              </a:rPr>
              <a:t>Mars — Avr. 2026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457200" y="2688336"/>
            <a:ext cx="475488" cy="457200"/>
          </a:xfrm>
          <a:prstGeom prst="rect">
            <a:avLst/>
          </a:prstGeom>
          <a:solidFill>
            <a:srgbClr val="C061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457200" y="2688336"/>
            <a:ext cx="4754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Georgia"/>
              <a:buNone/>
            </a:pPr>
            <a:r>
              <a:rPr b="1" lang="en-US" sz="9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T2.1-2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1024128" y="2706624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3A2A"/>
              </a:buClr>
              <a:buSzPts val="1200"/>
              <a:buFont typeface="Georgia"/>
              <a:buNone/>
            </a:pPr>
            <a:r>
              <a:rPr b="1" lang="en-US" sz="1200">
                <a:solidFill>
                  <a:srgbClr val="8B3A2A"/>
                </a:solidFill>
                <a:latin typeface="Georgia"/>
                <a:ea typeface="Georgia"/>
                <a:cs typeface="Georgia"/>
                <a:sym typeface="Georgia"/>
              </a:rPr>
              <a:t>Préparer l'entraînement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1024128" y="2980944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Définir les paramètres de sortie et préparer les exemples d'apprentissage.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4572000" y="2761488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0614A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C0614A"/>
                </a:solidFill>
                <a:latin typeface="Calibri"/>
                <a:ea typeface="Calibri"/>
                <a:cs typeface="Calibri"/>
                <a:sym typeface="Calibri"/>
              </a:rPr>
              <a:t>Avr. — Mai 2026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457200" y="3383280"/>
            <a:ext cx="475488" cy="457200"/>
          </a:xfrm>
          <a:prstGeom prst="rect">
            <a:avLst/>
          </a:prstGeom>
          <a:solidFill>
            <a:srgbClr val="C061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457200" y="3383280"/>
            <a:ext cx="4754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Georgia"/>
              <a:buNone/>
            </a:pPr>
            <a:r>
              <a:rPr b="1" lang="en-US" sz="9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T2.3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1024128" y="3401568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3A2A"/>
              </a:buClr>
              <a:buSzPts val="1200"/>
              <a:buFont typeface="Georgia"/>
              <a:buNone/>
            </a:pPr>
            <a:r>
              <a:rPr b="1" lang="en-US" sz="1200">
                <a:solidFill>
                  <a:srgbClr val="8B3A2A"/>
                </a:solidFill>
                <a:latin typeface="Georgia"/>
                <a:ea typeface="Georgia"/>
                <a:cs typeface="Georgia"/>
                <a:sym typeface="Georgia"/>
              </a:rPr>
              <a:t>Entraîner l'intelligence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1024128" y="3675888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Phase principale : l'intelligence apprend à lire les données correctement.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4572000" y="3456432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0614A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C0614A"/>
                </a:solidFill>
                <a:latin typeface="Calibri"/>
                <a:ea typeface="Calibri"/>
                <a:cs typeface="Calibri"/>
                <a:sym typeface="Calibri"/>
              </a:rPr>
              <a:t>Mai — Juin 2026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457200" y="4078224"/>
            <a:ext cx="475488" cy="457200"/>
          </a:xfrm>
          <a:prstGeom prst="rect">
            <a:avLst/>
          </a:prstGeom>
          <a:solidFill>
            <a:srgbClr val="C061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457200" y="4078224"/>
            <a:ext cx="4754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Georgia"/>
              <a:buNone/>
            </a:pPr>
            <a:r>
              <a:rPr b="1" lang="en-US" sz="9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T2.4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1024128" y="4096512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3A2A"/>
              </a:buClr>
              <a:buSzPts val="1200"/>
              <a:buFont typeface="Georgia"/>
              <a:buNone/>
            </a:pPr>
            <a:r>
              <a:rPr b="1" lang="en-US" sz="1200">
                <a:solidFill>
                  <a:srgbClr val="8B3A2A"/>
                </a:solidFill>
                <a:latin typeface="Georgia"/>
                <a:ea typeface="Georgia"/>
                <a:cs typeface="Georgia"/>
                <a:sym typeface="Georgia"/>
              </a:rPr>
              <a:t>Valider les résultats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1024128" y="4370832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Vérifier que l'intelligence fonctionne sur des données nouvelles qu'elle n'a pas vues.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4572000" y="4151376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0614A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C0614A"/>
                </a:solidFill>
                <a:latin typeface="Calibri"/>
                <a:ea typeface="Calibri"/>
                <a:cs typeface="Calibri"/>
                <a:sym typeface="Calibri"/>
              </a:rPr>
              <a:t>Juin 2026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/>
          <p:nvPr/>
        </p:nvSpPr>
        <p:spPr>
          <a:xfrm>
            <a:off x="5806440" y="3200400"/>
            <a:ext cx="301752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5806440" y="3200400"/>
            <a:ext cx="3017520" cy="91440"/>
          </a:xfrm>
          <a:prstGeom prst="rect">
            <a:avLst/>
          </a:prstGeom>
          <a:solidFill>
            <a:srgbClr val="C061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5943600" y="33375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3A2A"/>
              </a:buClr>
              <a:buSzPts val="1300"/>
              <a:buFont typeface="Georgia"/>
              <a:buNone/>
            </a:pPr>
            <a:r>
              <a:rPr b="1" lang="en-US" sz="1300">
                <a:solidFill>
                  <a:srgbClr val="8B3A2A"/>
                </a:solidFill>
                <a:latin typeface="Georgia"/>
                <a:ea typeface="Georgia"/>
                <a:cs typeface="Georgia"/>
                <a:sym typeface="Georgia"/>
              </a:rPr>
              <a:t>Prochaine étape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5943600" y="3767328"/>
            <a:ext cx="54864" cy="91440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6080760" y="3749040"/>
            <a:ext cx="2606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Finaliser l'inventaire des paramètres. Préparer les premiers exemples d'entraînement avec Paul.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F2FA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6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1E609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0" y="0"/>
            <a:ext cx="365760" cy="1234440"/>
          </a:xfrm>
          <a:prstGeom prst="rect">
            <a:avLst/>
          </a:prstGeom>
          <a:solidFill>
            <a:srgbClr val="0D3D5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502920" y="73152"/>
            <a:ext cx="6400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eorgia"/>
              <a:buNone/>
            </a:pPr>
            <a:r>
              <a:rPr b="1" lang="en-US" sz="3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Pôle Data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502920" y="749808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D7EE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BDD7EE"/>
                </a:solidFill>
                <a:latin typeface="Calibri"/>
                <a:ea typeface="Calibri"/>
                <a:cs typeface="Calibri"/>
                <a:sym typeface="Calibri"/>
              </a:rPr>
              <a:t>Rana  ·  Yessine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6583680" y="301752"/>
            <a:ext cx="2286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320040" y="1371600"/>
            <a:ext cx="5303520" cy="3520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320040" y="1371600"/>
            <a:ext cx="5303520" cy="91440"/>
          </a:xfrm>
          <a:prstGeom prst="rect">
            <a:avLst/>
          </a:prstGeom>
          <a:solidFill>
            <a:srgbClr val="1E609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457200" y="1508760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3D5C"/>
              </a:buClr>
              <a:buSzPts val="1500"/>
              <a:buFont typeface="Georgia"/>
              <a:buNone/>
            </a:pPr>
            <a:r>
              <a:rPr b="1" lang="en-US" sz="1500">
                <a:solidFill>
                  <a:srgbClr val="0D3D5C"/>
                </a:solidFill>
                <a:latin typeface="Georgia"/>
                <a:ea typeface="Georgia"/>
                <a:cs typeface="Georgia"/>
                <a:sym typeface="Georgia"/>
              </a:rPr>
              <a:t>Les blocs de travail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438912" y="1920240"/>
            <a:ext cx="2423160" cy="841248"/>
          </a:xfrm>
          <a:prstGeom prst="rect">
            <a:avLst/>
          </a:prstGeom>
          <a:solidFill>
            <a:srgbClr val="F8F8FA"/>
          </a:solidFill>
          <a:ln>
            <a:noFill/>
          </a:ln>
          <a:effectLst>
            <a:outerShdw blurRad="889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438912" y="1920240"/>
            <a:ext cx="64008" cy="841248"/>
          </a:xfrm>
          <a:prstGeom prst="rect">
            <a:avLst/>
          </a:prstGeom>
          <a:solidFill>
            <a:srgbClr val="1E609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530352" y="2011680"/>
            <a:ext cx="365760" cy="365760"/>
          </a:xfrm>
          <a:prstGeom prst="rect">
            <a:avLst/>
          </a:prstGeom>
          <a:solidFill>
            <a:srgbClr val="1E609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530352" y="20116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b="1" lang="en-US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987552" y="1975104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3D5C"/>
              </a:buClr>
              <a:buSzPts val="1100"/>
              <a:buFont typeface="Georgia"/>
              <a:buNone/>
            </a:pPr>
            <a:r>
              <a:rPr b="1" lang="en-US" sz="1100">
                <a:solidFill>
                  <a:srgbClr val="0D3D5C"/>
                </a:solidFill>
                <a:latin typeface="Georgia"/>
                <a:ea typeface="Georgia"/>
                <a:cs typeface="Georgia"/>
                <a:sym typeface="Georgia"/>
              </a:rPr>
              <a:t>Réception des données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987552" y="2304288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Intégrer et vérifier les données transmises par le pôle Scrapping.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3017520" y="1920240"/>
            <a:ext cx="2423160" cy="841248"/>
          </a:xfrm>
          <a:prstGeom prst="rect">
            <a:avLst/>
          </a:prstGeom>
          <a:solidFill>
            <a:srgbClr val="E8F4E8"/>
          </a:solidFill>
          <a:ln>
            <a:noFill/>
          </a:ln>
          <a:effectLst>
            <a:outerShdw blurRad="889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3017520" y="1920240"/>
            <a:ext cx="64008" cy="8412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3108960" y="2011680"/>
            <a:ext cx="36576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3108960" y="20116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b="1" lang="en-US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3566160" y="1975104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D1B"/>
              </a:buClr>
              <a:buSzPts val="1100"/>
              <a:buFont typeface="Georgia"/>
              <a:buNone/>
            </a:pPr>
            <a:r>
              <a:rPr b="1" lang="en-US" sz="1100">
                <a:solidFill>
                  <a:srgbClr val="1A3D1B"/>
                </a:solidFill>
                <a:latin typeface="Georgia"/>
                <a:ea typeface="Georgia"/>
                <a:cs typeface="Georgia"/>
                <a:sym typeface="Georgia"/>
              </a:rPr>
              <a:t>Organisation du travail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438912" y="2907792"/>
            <a:ext cx="2423160" cy="841248"/>
          </a:xfrm>
          <a:prstGeom prst="rect">
            <a:avLst/>
          </a:prstGeom>
          <a:solidFill>
            <a:srgbClr val="F8F8FA"/>
          </a:solidFill>
          <a:ln>
            <a:noFill/>
          </a:ln>
          <a:effectLst>
            <a:outerShdw blurRad="889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438912" y="2907792"/>
            <a:ext cx="64008" cy="841248"/>
          </a:xfrm>
          <a:prstGeom prst="rect">
            <a:avLst/>
          </a:prstGeom>
          <a:solidFill>
            <a:srgbClr val="1E609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530352" y="2999232"/>
            <a:ext cx="365760" cy="365760"/>
          </a:xfrm>
          <a:prstGeom prst="rect">
            <a:avLst/>
          </a:prstGeom>
          <a:solidFill>
            <a:srgbClr val="1E609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530352" y="299923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b="1" lang="en-US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6"/>
          <p:cNvSpPr/>
          <p:nvPr/>
        </p:nvSpPr>
        <p:spPr>
          <a:xfrm>
            <a:off x="987552" y="2962656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3D5C"/>
              </a:buClr>
              <a:buSzPts val="1100"/>
              <a:buFont typeface="Georgia"/>
              <a:buNone/>
            </a:pPr>
            <a:r>
              <a:rPr b="1" lang="en-US" sz="1100">
                <a:solidFill>
                  <a:srgbClr val="0D3D5C"/>
                </a:solidFill>
                <a:latin typeface="Georgia"/>
                <a:ea typeface="Georgia"/>
                <a:cs typeface="Georgia"/>
                <a:sym typeface="Georgia"/>
              </a:rPr>
              <a:t>Comprendre les données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987552" y="3291840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Analyse exploratoire et identification des indicateurs clés.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3017520" y="2907792"/>
            <a:ext cx="2423160" cy="841248"/>
          </a:xfrm>
          <a:prstGeom prst="rect">
            <a:avLst/>
          </a:prstGeom>
          <a:solidFill>
            <a:srgbClr val="F8F8FA"/>
          </a:solidFill>
          <a:ln>
            <a:noFill/>
          </a:ln>
          <a:effectLst>
            <a:outerShdw blurRad="889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3017520" y="2907792"/>
            <a:ext cx="64008" cy="841248"/>
          </a:xfrm>
          <a:prstGeom prst="rect">
            <a:avLst/>
          </a:prstGeom>
          <a:solidFill>
            <a:srgbClr val="1E609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3108960" y="2999232"/>
            <a:ext cx="365760" cy="365760"/>
          </a:xfrm>
          <a:prstGeom prst="rect">
            <a:avLst/>
          </a:prstGeom>
          <a:solidFill>
            <a:srgbClr val="1E609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3108960" y="299923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b="1" lang="en-US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3566160" y="2962656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3D5C"/>
              </a:buClr>
              <a:buSzPts val="1100"/>
              <a:buFont typeface="Georgia"/>
              <a:buNone/>
            </a:pPr>
            <a:r>
              <a:rPr b="1" lang="en-US" sz="1100">
                <a:solidFill>
                  <a:srgbClr val="0D3D5C"/>
                </a:solidFill>
                <a:latin typeface="Georgia"/>
                <a:ea typeface="Georgia"/>
                <a:cs typeface="Georgia"/>
                <a:sym typeface="Georgia"/>
              </a:rPr>
              <a:t>Tableau de bord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3566160" y="3291840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Tableau de bord Microsoft — livrable principal du pôle.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/>
          <p:nvPr/>
        </p:nvSpPr>
        <p:spPr>
          <a:xfrm>
            <a:off x="438912" y="3895344"/>
            <a:ext cx="2423160" cy="841248"/>
          </a:xfrm>
          <a:prstGeom prst="rect">
            <a:avLst/>
          </a:prstGeom>
          <a:solidFill>
            <a:srgbClr val="F8F8FA"/>
          </a:solidFill>
          <a:ln>
            <a:noFill/>
          </a:ln>
          <a:effectLst>
            <a:outerShdw blurRad="889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438912" y="3895344"/>
            <a:ext cx="64008" cy="841248"/>
          </a:xfrm>
          <a:prstGeom prst="rect">
            <a:avLst/>
          </a:prstGeom>
          <a:solidFill>
            <a:srgbClr val="1E609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6"/>
          <p:cNvSpPr/>
          <p:nvPr/>
        </p:nvSpPr>
        <p:spPr>
          <a:xfrm>
            <a:off x="530352" y="3986784"/>
            <a:ext cx="365760" cy="365760"/>
          </a:xfrm>
          <a:prstGeom prst="rect">
            <a:avLst/>
          </a:prstGeom>
          <a:solidFill>
            <a:srgbClr val="1E609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6"/>
          <p:cNvSpPr/>
          <p:nvPr/>
        </p:nvSpPr>
        <p:spPr>
          <a:xfrm>
            <a:off x="530352" y="398678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b="1" lang="en-US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/>
          <p:nvPr/>
        </p:nvSpPr>
        <p:spPr>
          <a:xfrm>
            <a:off x="987552" y="3950208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3D5C"/>
              </a:buClr>
              <a:buSzPts val="1100"/>
              <a:buFont typeface="Georgia"/>
              <a:buNone/>
            </a:pPr>
            <a:r>
              <a:rPr b="1" lang="en-US" sz="1100">
                <a:solidFill>
                  <a:srgbClr val="0D3D5C"/>
                </a:solidFill>
                <a:latin typeface="Georgia"/>
                <a:ea typeface="Georgia"/>
                <a:cs typeface="Georgia"/>
                <a:sym typeface="Georgia"/>
              </a:rPr>
              <a:t>Système automatique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6"/>
          <p:cNvSpPr/>
          <p:nvPr/>
        </p:nvSpPr>
        <p:spPr>
          <a:xfrm>
            <a:off x="987552" y="4279392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Pipeline et interface de surveillance en temps réel.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6"/>
          <p:cNvSpPr/>
          <p:nvPr/>
        </p:nvSpPr>
        <p:spPr>
          <a:xfrm>
            <a:off x="3017520" y="3895344"/>
            <a:ext cx="2423160" cy="841248"/>
          </a:xfrm>
          <a:prstGeom prst="rect">
            <a:avLst/>
          </a:prstGeom>
          <a:solidFill>
            <a:srgbClr val="F8F8FA"/>
          </a:solidFill>
          <a:ln>
            <a:noFill/>
          </a:ln>
          <a:effectLst>
            <a:outerShdw blurRad="889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6"/>
          <p:cNvSpPr/>
          <p:nvPr/>
        </p:nvSpPr>
        <p:spPr>
          <a:xfrm>
            <a:off x="3017520" y="3895344"/>
            <a:ext cx="64008" cy="841248"/>
          </a:xfrm>
          <a:prstGeom prst="rect">
            <a:avLst/>
          </a:prstGeom>
          <a:solidFill>
            <a:srgbClr val="1E609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6"/>
          <p:cNvSpPr/>
          <p:nvPr/>
        </p:nvSpPr>
        <p:spPr>
          <a:xfrm>
            <a:off x="3108960" y="3986784"/>
            <a:ext cx="365760" cy="365760"/>
          </a:xfrm>
          <a:prstGeom prst="rect">
            <a:avLst/>
          </a:prstGeom>
          <a:solidFill>
            <a:srgbClr val="1E609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6"/>
          <p:cNvSpPr/>
          <p:nvPr/>
        </p:nvSpPr>
        <p:spPr>
          <a:xfrm>
            <a:off x="3108960" y="398678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b="1" lang="en-US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6"/>
          <p:cNvSpPr/>
          <p:nvPr/>
        </p:nvSpPr>
        <p:spPr>
          <a:xfrm>
            <a:off x="3566160" y="3950208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3D5C"/>
              </a:buClr>
              <a:buSzPts val="1100"/>
              <a:buFont typeface="Georgia"/>
              <a:buNone/>
            </a:pPr>
            <a:r>
              <a:rPr b="1" lang="en-US" sz="1100">
                <a:solidFill>
                  <a:srgbClr val="0D3D5C"/>
                </a:solidFill>
                <a:latin typeface="Georgia"/>
                <a:ea typeface="Georgia"/>
                <a:cs typeface="Georgia"/>
                <a:sym typeface="Georgia"/>
              </a:rPr>
              <a:t>Tests et documentation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6"/>
          <p:cNvSpPr/>
          <p:nvPr/>
        </p:nvSpPr>
        <p:spPr>
          <a:xfrm>
            <a:off x="3566160" y="4279392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Vérification de bout en bout et guide utilisateur.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6"/>
          <p:cNvSpPr/>
          <p:nvPr/>
        </p:nvSpPr>
        <p:spPr>
          <a:xfrm>
            <a:off x="5806440" y="3200400"/>
            <a:ext cx="301752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6"/>
          <p:cNvSpPr/>
          <p:nvPr/>
        </p:nvSpPr>
        <p:spPr>
          <a:xfrm>
            <a:off x="5806440" y="3200400"/>
            <a:ext cx="3017520" cy="91440"/>
          </a:xfrm>
          <a:prstGeom prst="rect">
            <a:avLst/>
          </a:prstGeom>
          <a:solidFill>
            <a:srgbClr val="1E609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6"/>
          <p:cNvSpPr/>
          <p:nvPr/>
        </p:nvSpPr>
        <p:spPr>
          <a:xfrm>
            <a:off x="5943600" y="33375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3D5C"/>
              </a:buClr>
              <a:buSzPts val="1300"/>
              <a:buFont typeface="Georgia"/>
              <a:buNone/>
            </a:pPr>
            <a:r>
              <a:rPr b="1" lang="en-US" sz="1300">
                <a:solidFill>
                  <a:srgbClr val="0D3D5C"/>
                </a:solidFill>
                <a:latin typeface="Georgia"/>
                <a:ea typeface="Georgia"/>
                <a:cs typeface="Georgia"/>
                <a:sym typeface="Georgia"/>
              </a:rPr>
              <a:t>Prochaine étape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6"/>
          <p:cNvSpPr/>
          <p:nvPr/>
        </p:nvSpPr>
        <p:spPr>
          <a:xfrm>
            <a:off x="5943600" y="3749040"/>
            <a:ext cx="54864" cy="91440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6"/>
          <p:cNvSpPr/>
          <p:nvPr/>
        </p:nvSpPr>
        <p:spPr>
          <a:xfrm>
            <a:off x="6080760" y="3730752"/>
            <a:ext cx="2606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Installer Power BI. Attendre les premières données du pôle Scrapping en octobre.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2026-03-19T08:58:32Z</dcterms:created>
  <dc:creator>Équipe projet — 8 personnes</dc:creator>
</cp:coreProperties>
</file>