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55CADD-360B-4F3E-AD80-EBA8E4A6F5B8}">
  <a:tblStyle styleId="{2455CADD-360B-4F3E-AD80-EBA8E4A6F5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1dd28fb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1dd28fb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41dd28fb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41dd28fb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41dd28fb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41dd28fb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41dd28fb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41dd28fb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RAG (Génération augmentée par la récupération)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684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500">
                <a:solidFill>
                  <a:schemeClr val="dk1"/>
                </a:solidFill>
              </a:rPr>
              <a:t>Le Problème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fr" sz="1300">
                <a:solidFill>
                  <a:schemeClr val="dk1"/>
                </a:solidFill>
              </a:rPr>
              <a:t>Avant :</a:t>
            </a:r>
            <a:r>
              <a:rPr lang="fr" sz="1300">
                <a:solidFill>
                  <a:schemeClr val="dk1"/>
                </a:solidFill>
              </a:rPr>
              <a:t> Le robot extrait des chiffres (CA, SIREN) mais ignore tout le reste (le texte des sites).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fr" sz="1300">
                <a:solidFill>
                  <a:schemeClr val="dk1"/>
                </a:solidFill>
              </a:rPr>
              <a:t>Le risque :</a:t>
            </a:r>
            <a:r>
              <a:rPr lang="fr" sz="1300">
                <a:solidFill>
                  <a:schemeClr val="dk1"/>
                </a:solidFill>
              </a:rPr>
              <a:t> Pour savoir ce que fait précisément une entreprise, Il faut quand même aller lire le site web à la main.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fr" sz="1300">
                <a:solidFill>
                  <a:schemeClr val="dk1"/>
                </a:solidFill>
              </a:rPr>
              <a:t>Limites de l'IA classique :</a:t>
            </a:r>
            <a:r>
              <a:rPr lang="fr" sz="1300">
                <a:solidFill>
                  <a:schemeClr val="dk1"/>
                </a:solidFill>
              </a:rPr>
              <a:t> risque d’hallucination, invention de données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dk1"/>
                </a:solidFill>
              </a:rPr>
              <a:t> 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dk1"/>
                </a:solidFill>
              </a:rPr>
              <a:t>La Solution : Le système RAG avec AnythingLLM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fr" sz="1300">
                <a:solidFill>
                  <a:schemeClr val="dk1"/>
                </a:solidFill>
              </a:rPr>
              <a:t>Définition simple :</a:t>
            </a:r>
            <a:r>
              <a:rPr lang="fr" sz="1300">
                <a:solidFill>
                  <a:schemeClr val="dk1"/>
                </a:solidFill>
              </a:rPr>
              <a:t> Le RAG, c'est donner une "bibliothèque de documents" à l'IA.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fr" sz="1300">
                <a:solidFill>
                  <a:schemeClr val="dk1"/>
                </a:solidFill>
              </a:rPr>
              <a:t>Concept :</a:t>
            </a:r>
            <a:r>
              <a:rPr lang="fr" sz="1300">
                <a:solidFill>
                  <a:schemeClr val="dk1"/>
                </a:solidFill>
              </a:rPr>
              <a:t> </a:t>
            </a:r>
            <a:r>
              <a:rPr lang="fr" sz="1300">
                <a:solidFill>
                  <a:schemeClr val="dk1"/>
                </a:solidFill>
              </a:rPr>
              <a:t>Au lieu de répondre par memoire , l'IA va d'abord chercher l'information dans les données que nous avons scrapées, puis elle rédige une synthèse.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fr" sz="1300">
                <a:solidFill>
                  <a:schemeClr val="dk1"/>
                </a:solidFill>
              </a:rPr>
              <a:t>Données :</a:t>
            </a:r>
            <a:r>
              <a:rPr lang="fr" sz="1300">
                <a:solidFill>
                  <a:schemeClr val="dk1"/>
                </a:solidFill>
              </a:rPr>
              <a:t> aucunes hallucinations possibles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0" y="0"/>
            <a:ext cx="911236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216325"/>
            <a:ext cx="8520600" cy="16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500">
                <a:solidFill>
                  <a:schemeClr val="dk1"/>
                </a:solidFill>
              </a:rPr>
              <a:t>Ce que ça change concrètement: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fr" sz="1300">
                <a:solidFill>
                  <a:schemeClr val="dk1"/>
                </a:solidFill>
              </a:rPr>
              <a:t>Recherche intelligente :</a:t>
            </a:r>
            <a:r>
              <a:rPr lang="fr" sz="1300">
                <a:solidFill>
                  <a:schemeClr val="dk1"/>
                </a:solidFill>
              </a:rPr>
              <a:t> Au lieu de filtrer les données, on peut poser une question : </a:t>
            </a:r>
            <a:r>
              <a:rPr i="1" lang="fr" sz="1300">
                <a:solidFill>
                  <a:schemeClr val="dk1"/>
                </a:solidFill>
              </a:rPr>
              <a:t>"Quelles sont les entreprises qui fabriquent des pièces pour l'aéronautique et qui mentionnent l'usage de matériaux composites ?"</a:t>
            </a:r>
            <a:endParaRPr i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fr" sz="1300">
                <a:solidFill>
                  <a:schemeClr val="dk1"/>
                </a:solidFill>
              </a:rPr>
              <a:t>Synthèse automatique :</a:t>
            </a:r>
            <a:r>
              <a:rPr lang="fr" sz="1300">
                <a:solidFill>
                  <a:schemeClr val="dk1"/>
                </a:solidFill>
              </a:rPr>
              <a:t> L'outil peut résumer l'activité de 10 entreprises en un seul paragraphe.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fr" sz="1300">
                <a:solidFill>
                  <a:schemeClr val="dk1"/>
                </a:solidFill>
              </a:rPr>
              <a:t>Fiabilité totale :</a:t>
            </a:r>
            <a:r>
              <a:rPr lang="fr" sz="1300">
                <a:solidFill>
                  <a:schemeClr val="dk1"/>
                </a:solidFill>
              </a:rPr>
              <a:t> L'IA cite ses sources. Elle peut dire : </a:t>
            </a:r>
            <a:r>
              <a:rPr i="1" lang="fr" sz="1300">
                <a:solidFill>
                  <a:schemeClr val="dk1"/>
                </a:solidFill>
              </a:rPr>
              <a:t>"D'après la page 'Produits' du site [Lien], cette entreprise fait du décolletage de précision."</a:t>
            </a:r>
            <a:endParaRPr sz="2000"/>
          </a:p>
        </p:txBody>
      </p:sp>
      <p:graphicFrame>
        <p:nvGraphicFramePr>
          <p:cNvPr id="72" name="Google Shape;72;p16"/>
          <p:cNvGraphicFramePr/>
          <p:nvPr/>
        </p:nvGraphicFramePr>
        <p:xfrm>
          <a:off x="793675" y="243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{2455CADD-360B-4F3E-AD80-EBA8E4A6F5B8}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fr" sz="1100"/>
                        <a:t>Caractéristique</a:t>
                      </a:r>
                      <a:endParaRPr b="1" sz="1100"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>
                          <a:solidFill>
                            <a:schemeClr val="dk1"/>
                          </a:solidFill>
                        </a:rPr>
                        <a:t>Base SQL (Classique)</a:t>
                      </a:r>
                      <a:endParaRPr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Base de Vecteurs (RAG)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Format</a:t>
                      </a:r>
                      <a:endParaRPr/>
                    </a:p>
                  </a:txBody>
                  <a:tcPr marT="91425" marB="91425" marR="91425" marL="91425"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Tableaux (Lignes/Colonnes)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Coordonnées mathématiques (Vecteurs)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Type de recherche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Filtres précis (ex: CA &gt; 1M€)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Conceptuelle (ex: "matériaux durables")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Utilisateur final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Le Dashboard Power BI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L'interface de chat (IA)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Rôle dans le projet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Statistique &amp; Cartographie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Expertise &amp; Intelligence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En Résumé 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</a:rPr>
              <a:t>Le </a:t>
            </a:r>
            <a:r>
              <a:rPr b="1" lang="fr" sz="1300">
                <a:solidFill>
                  <a:schemeClr val="dk1"/>
                </a:solidFill>
              </a:rPr>
              <a:t>Scraper</a:t>
            </a:r>
            <a:r>
              <a:rPr lang="fr" sz="1300">
                <a:solidFill>
                  <a:schemeClr val="dk1"/>
                </a:solidFill>
              </a:rPr>
              <a:t> récupère tout.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</a:rPr>
              <a:t>L'</a:t>
            </a:r>
            <a:r>
              <a:rPr b="1" lang="fr" sz="1300">
                <a:solidFill>
                  <a:schemeClr val="dk1"/>
                </a:solidFill>
              </a:rPr>
              <a:t>IA de lecture</a:t>
            </a:r>
            <a:r>
              <a:rPr lang="fr" sz="1300">
                <a:solidFill>
                  <a:schemeClr val="dk1"/>
                </a:solidFill>
              </a:rPr>
              <a:t> trie les chiffres pour le </a:t>
            </a:r>
            <a:r>
              <a:rPr b="1" lang="fr" sz="1300">
                <a:solidFill>
                  <a:schemeClr val="dk1"/>
                </a:solidFill>
              </a:rPr>
              <a:t>SQL</a:t>
            </a:r>
            <a:r>
              <a:rPr lang="fr" sz="1300">
                <a:solidFill>
                  <a:schemeClr val="dk1"/>
                </a:solidFill>
              </a:rPr>
              <a:t> pour la carthographie sur Power BI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1"/>
                </a:solidFill>
              </a:rPr>
              <a:t>Le texte complet est envoyé à </a:t>
            </a:r>
            <a:r>
              <a:rPr b="1" lang="fr" sz="1300">
                <a:solidFill>
                  <a:schemeClr val="dk1"/>
                </a:solidFill>
              </a:rPr>
              <a:t>AnythingLLM</a:t>
            </a:r>
            <a:r>
              <a:rPr lang="fr" sz="1300">
                <a:solidFill>
                  <a:schemeClr val="dk1"/>
                </a:solidFill>
              </a:rPr>
              <a:t> pour la base de vecteurs, sur laquelle on peut interroger l’IA pour obtenir des informations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