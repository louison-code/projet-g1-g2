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1645920"/>
            <a:ext cx="6705295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D3D3D"/>
                </a:solidFill>
              </a:defRPr>
            </a:pPr>
            <a:r>
              <a:rPr dirty="0" err="1"/>
              <a:t>Projet</a:t>
            </a:r>
            <a:r>
              <a:rPr dirty="0"/>
              <a:t> G1/G2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A7A7A"/>
                </a:solidFill>
              </a:defRPr>
            </a:pPr>
            <a:r>
              <a:rPr dirty="0"/>
              <a:t>Point </a:t>
            </a:r>
            <a:r>
              <a:rPr dirty="0" err="1"/>
              <a:t>d'etape</a:t>
            </a:r>
            <a:r>
              <a:rPr dirty="0"/>
              <a:t>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573"/>
                </a:solidFill>
              </a:defRPr>
            </a:pPr>
            <a:r>
              <a:rPr dirty="0"/>
              <a:t>Scraping, Pipeline IA et </a:t>
            </a:r>
            <a:r>
              <a:rPr dirty="0" err="1"/>
              <a:t>Visualisation</a:t>
            </a:r>
            <a:r>
              <a:rPr dirty="0"/>
              <a:t>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7A7A"/>
                </a:solidFill>
              </a:defRPr>
            </a:pPr>
            <a: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3657600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3D3D"/>
                </a:solidFill>
              </a:defRPr>
            </a:pPr>
            <a:r>
              <a:t>Plan de la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45720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0" y="1920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Ce qu'on a realise jusqu'a 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468880"/>
            <a:ext cx="8229600" cy="45720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2560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Taux d'avancement par tache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08960"/>
            <a:ext cx="8229600" cy="45720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3200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Resultats du scraping (7100 URLs)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49039"/>
            <a:ext cx="8229600" cy="45720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3840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Ce que l'IA a produit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389120"/>
            <a:ext cx="8229600" cy="45720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4480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Les livrables generes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029200"/>
            <a:ext cx="8229600" cy="45720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512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Passage a 100 000 entreprises : le defi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669279"/>
            <a:ext cx="8229600" cy="45720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94560" y="57607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</a:defRPr>
            </a:pPr>
            <a:r>
              <a:t>Solutions pour le passage a l'echelle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Taux d'avancement par tache</a:t>
            </a:r>
          </a:p>
        </p:txBody>
      </p:sp>
      <p:pic>
        <p:nvPicPr>
          <p:cNvPr id="5" name="Picture 4" descr="ava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1371600"/>
            <a:ext cx="7181385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Synthese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T0/T1 : 100% - Conformite juridique + environnement technique operationnels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T2 (IA) : ~80% - Pipeline IA fonctionnel, 1100 entreprises traitees, reste montee en 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T3 (Scraping) : ~85% - Moteur au point, optimisation performances en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15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T4 (Auto-reparation) : 0% - Debut prevu septembre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T5 (BI/Data) : ~5% - Donnees pretes, connexion Power BI a faire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Resultats du scraping</a:t>
            </a:r>
          </a:p>
        </p:txBody>
      </p:sp>
      <p:pic>
        <p:nvPicPr>
          <p:cNvPr id="5" name="Picture 4" descr="scraping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" y="1214120"/>
            <a:ext cx="4450385" cy="23193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71600"/>
            <a:ext cx="5029200" cy="201168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3D3D"/>
                </a:solidFill>
              </a:defRPr>
            </a:pPr>
            <a:r>
              <a:t>Architecture scraping retenue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Pool de 8 navigateurs Chrome partages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Mode EAGER : -60% temps de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Extraction par regex sur HTML brut (vs DOM)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Ecriture streaming Excel pendant le 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Pipeline unifie : 1 commande = scraper + exporter</a:t>
            </a:r>
          </a:p>
        </p:txBody>
      </p:sp>
      <p:pic>
        <p:nvPicPr>
          <p:cNvPr id="13" name="Picture 12" descr="screenshot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566160"/>
            <a:ext cx="654744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Ce que l'IA a produit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3D3D"/>
                </a:solidFill>
              </a:defRPr>
            </a:pPr>
            <a:r>
              <a:t>1 100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A7A"/>
                </a:solidFill>
              </a:defRPr>
            </a:pPr>
            <a:r>
              <a:t>entreprises</a:t>
            </a:r>
            <a:br/>
            <a:r>
              <a:t>traitees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3D3D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A7A"/>
                </a:solidFill>
              </a:defRPr>
            </a:pPr>
            <a:r>
              <a:t>taux de</a:t>
            </a:r>
            <a:br/>
            <a:r>
              <a:t>succes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109728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3D3D"/>
                </a:solidFill>
              </a:defRPr>
            </a:pPr>
            <a:r>
              <a:t>11.6s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A7A"/>
                </a:solidFill>
              </a:defRPr>
            </a:pPr>
            <a:r>
              <a:t>temps moyen</a:t>
            </a:r>
            <a:br/>
            <a:r>
              <a:t>par unite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109728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3D3D"/>
                </a:solidFill>
              </a:defRPr>
            </a:pPr>
            <a:r>
              <a:t>75.6%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A7A"/>
                </a:solidFill>
              </a:defRPr>
            </a:pPr>
            <a:r>
              <a:t>confiance</a:t>
            </a:r>
            <a:br/>
            <a:r>
              <a:t>moyenne</a:t>
            </a:r>
          </a:p>
        </p:txBody>
      </p:sp>
      <p:pic>
        <p:nvPicPr>
          <p:cNvPr id="17" name="Picture 16" descr="sect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9" y="2834640"/>
            <a:ext cx="6138582" cy="2286000"/>
          </a:xfrm>
          <a:prstGeom prst="rect">
            <a:avLst/>
          </a:prstGeom>
        </p:spPr>
      </p:pic>
      <p:pic>
        <p:nvPicPr>
          <p:cNvPr id="18" name="Picture 17" descr="screenshot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95" y="2834640"/>
            <a:ext cx="6056105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3D3D"/>
                </a:solidFill>
              </a:defRPr>
            </a:pPr>
            <a:r>
              <a:t>Modele Mistral en local (Ollama) - 0 donnee sortante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Livrables generes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18872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Donnees brutes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642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7 100 entreprises scrapees depuis Kompass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653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base_reindustrialisation.db (2.2 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66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Livrable_IA_Nettoye.json (4.3 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6771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DATA_FULL_ADMIN_IA.csv (312 Mo, 32 colonnes)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Analyses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358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1 100 entreprises analysees par Mistral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369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companies_enriched.csv/.xlsx/.db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381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evidence.csv/.xlsx (preuves de chaque analyse)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3931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Rapport de performance 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515600" cy="118872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rPr dirty="0"/>
              <a:t>Power BI / </a:t>
            </a:r>
            <a:r>
              <a:rPr dirty="0" err="1"/>
              <a:t>Visualisation</a:t>
            </a:r>
            <a:r>
              <a:rPr lang="fr-FR" dirty="0"/>
              <a:t> (non fait)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188720" y="44074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Livrable_Final_PowerBI.xlsx (Excel enrichi)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085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rPr dirty="0" err="1"/>
              <a:t>Base_PowerBI_Optimisee.db</a:t>
            </a:r>
            <a:r>
              <a:rPr dirty="0"/>
              <a:t> (5 </a:t>
            </a:r>
            <a:r>
              <a:rPr dirty="0" err="1"/>
              <a:t>vues</a:t>
            </a:r>
            <a:r>
              <a:rPr dirty="0"/>
              <a:t> pre-</a:t>
            </a:r>
            <a:r>
              <a:rPr dirty="0" err="1"/>
              <a:t>creees</a:t>
            </a:r>
            <a:r>
              <a:rPr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097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Dashboard mockup + guide connexion + formules DAX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091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7A7A"/>
                </a:solidFill>
              </a:defRPr>
            </a:pPr>
            <a:r>
              <a:t>Prets a etre connectes a Power BI Desktop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Passage a 100 000 entreprises : le defi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Comment recuperer 100 000 liens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rPr dirty="0"/>
              <a:t>- </a:t>
            </a:r>
            <a:r>
              <a:rPr dirty="0" err="1"/>
              <a:t>Depuis</a:t>
            </a:r>
            <a:r>
              <a:rPr dirty="0"/>
              <a:t> le </a:t>
            </a:r>
            <a:r>
              <a:rPr dirty="0" err="1"/>
              <a:t>fichier</a:t>
            </a:r>
            <a:r>
              <a:rPr dirty="0"/>
              <a:t> client (liste_URL_KOMPASS.xlsx)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054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- API Entreprises (data.gouv.fr) : par code NAF/region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rPr dirty="0"/>
              <a:t>- Scraping catalogue </a:t>
            </a:r>
            <a:r>
              <a:rPr dirty="0" err="1"/>
              <a:t>Kompass</a:t>
            </a:r>
            <a:r>
              <a:rPr dirty="0"/>
              <a:t> par </a:t>
            </a:r>
            <a:r>
              <a:rPr dirty="0" err="1"/>
              <a:t>secteur</a:t>
            </a:r>
            <a:r>
              <a:rPr dirty="0"/>
              <a:t> </a:t>
            </a:r>
            <a:r>
              <a:rPr dirty="0" err="1"/>
              <a:t>geographique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Probleme : temps d'execution</a:t>
            </a:r>
          </a:p>
        </p:txBody>
      </p:sp>
      <p:pic>
        <p:nvPicPr>
          <p:cNvPr id="14" name="Picture 13" descr="te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3509190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4023360"/>
            <a:ext cx="10789920" cy="228600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3D3D"/>
                </a:solidFill>
              </a:defRPr>
            </a:pPr>
            <a:r>
              <a:t>Solutions pour le passage a l'echelle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  Scraping :  800 workers au lieu de 8 + rotation proxies | Temps estime : 5-6h pour 100k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274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  IA locale :  8 appels Ollama en parallele au lieu de 1 | 36h au lieu de 12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0055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  IA Cloud API :  OpenAI / Mistral API | ~4h pour 100k | ~50$ | Donnees sur Internet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12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A7A7A"/>
                </a:solidFill>
              </a:defRPr>
            </a:pPr>
            <a:r>
              <a:t>  Serveur GPU dedie :  vLLM + A100 80GB | ~6h pour 100k | ~100EUR/jour | Donnees locales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052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7A7A7A"/>
                </a:solidFill>
              </a:defRPr>
            </a:pPr>
            <a:r>
              <a:t>  Recommandation :  Mixte : scraper local (5h) + IA via API cloud (4h) = 1 jour ouvrable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40F2BD9E-6885-2150-D5FC-F5DE69E9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09" y="4350211"/>
            <a:ext cx="4139153" cy="13945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11277295" cy="6126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4572000" cy="25400"/>
          </a:xfrm>
          <a:prstGeom prst="rect">
            <a:avLst/>
          </a:prstGeom>
          <a:solidFill>
            <a:srgbClr val="D4A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3D3D"/>
                </a:solidFill>
              </a:defRPr>
            </a:pPr>
            <a:r>
              <a:t>Prochaines etapes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515600" cy="64008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rPr dirty="0"/>
              <a:t>Tests </a:t>
            </a:r>
            <a:r>
              <a:rPr dirty="0" err="1"/>
              <a:t>montee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charge IA, </a:t>
            </a:r>
            <a:r>
              <a:rPr dirty="0" err="1"/>
              <a:t>connexion</a:t>
            </a:r>
            <a:r>
              <a:rPr dirty="0"/>
              <a:t> Power BI, </a:t>
            </a:r>
            <a:r>
              <a:rPr dirty="0" err="1"/>
              <a:t>optimisation</a:t>
            </a:r>
            <a:r>
              <a:rPr dirty="0"/>
              <a:t> scraping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A4B7C"/>
                </a:solidFill>
              </a:defRPr>
            </a:pPr>
            <a:r>
              <a:t>Urgent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10515600" cy="640080"/>
          </a:xfrm>
          <a:prstGeom prst="roundRect">
            <a:avLst/>
          </a:prstGeom>
          <a:solidFill>
            <a:srgbClr val="FDD5B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Septembre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t>Systeme auto-reparateur, formation Power BI (Rana+Yessine)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3D3D"/>
                </a:solidFill>
              </a:defRPr>
            </a:pPr>
            <a:r>
              <a:t>T4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10515600" cy="640080"/>
          </a:xfrm>
          <a:prstGeom prst="roundRect">
            <a:avLst/>
          </a:prstGeom>
          <a:solidFill>
            <a:srgbClr val="E8D5F5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Octobre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71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t>Dashboard Power BI, interface Streamlit, pipeline automatise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3D3D"/>
                </a:solidFill>
              </a:defRPr>
            </a:pPr>
            <a:r>
              <a:t>T5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03320"/>
            <a:ext cx="10515600" cy="640080"/>
          </a:xfrm>
          <a:prstGeom prst="roundRect">
            <a:avLst/>
          </a:prstGeom>
          <a:solidFill>
            <a:srgbClr val="F5E6CC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749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Novembre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49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t>Tests bout en bout, logs et alertes, automatisation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3D3D"/>
                </a:solidFill>
              </a:defRPr>
            </a:pPr>
            <a:r>
              <a:t>T5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80560"/>
            <a:ext cx="10515600" cy="640080"/>
          </a:xfrm>
          <a:prstGeom prst="roundRect">
            <a:avLst/>
          </a:prstGeom>
          <a:solidFill>
            <a:srgbClr val="A8D8EA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5262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Decembre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t>Validation et tests finaux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3D3D"/>
                </a:solidFill>
              </a:defRPr>
            </a:pPr>
            <a:r>
              <a:t>T5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257800"/>
            <a:ext cx="10515600" cy="640080"/>
          </a:xfrm>
          <a:prstGeom prst="roundRect">
            <a:avLst/>
          </a:prstGeom>
          <a:solidFill>
            <a:srgbClr val="C1E1C1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3D3D"/>
                </a:solidFill>
              </a:defRPr>
            </a:pPr>
            <a:r>
              <a:t>Janvier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303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7A"/>
                </a:solidFill>
              </a:defRPr>
            </a:pPr>
            <a:r>
              <a:t>Livraison finale, guide utilisateur, rapport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3D3D"/>
                </a:solidFill>
              </a:defRPr>
            </a:pPr>
            <a:r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605</Words>
  <Application>Microsoft Office PowerPoint</Application>
  <PresentationFormat>Grand écran</PresentationFormat>
  <Paragraphs>83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RANA AMRI</cp:lastModifiedBy>
  <cp:revision>2</cp:revision>
  <dcterms:created xsi:type="dcterms:W3CDTF">2013-01-27T09:14:16Z</dcterms:created>
  <dcterms:modified xsi:type="dcterms:W3CDTF">2026-05-30T16:01:25Z</dcterms:modified>
  <cp:category/>
</cp:coreProperties>
</file>