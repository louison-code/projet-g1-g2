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731520"/>
            <a:ext cx="10362895" cy="5486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0" y="1463040"/>
            <a:ext cx="7619695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84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D3D3D"/>
                </a:solidFill>
              </a:defRPr>
            </a:pPr>
            <a:r>
              <a:rPr dirty="0" err="1"/>
              <a:t>Projet</a:t>
            </a:r>
            <a:r>
              <a:rPr dirty="0"/>
              <a:t> G1/G2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A7A7A"/>
                </a:solidFill>
              </a:defRPr>
            </a:pPr>
            <a:r>
              <a:t>Rapport technique detaille : Scraping et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73"/>
                </a:solidFill>
              </a:defRPr>
            </a:pPr>
            <a:r>
              <a:t>Methodes, echecs, optimisations et resultats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A7A"/>
                </a:solidFill>
              </a:defRPr>
            </a:pPr>
            <a:r>
              <a:t>Encadrant : Claude Caude |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D3D3D"/>
                </a:solidFill>
              </a:defRPr>
            </a:pPr>
            <a: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058400" cy="54864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4813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1. Pole Scraping : methodes testees et echecs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Selenium, BeautifulSoup, Requests, Playwright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10058400" cy="54864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2128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2. Pole Scraping : solution retenue (DrissionPage)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Architecture, regex, mode EAGER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10058400" cy="54864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944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3. Optimisations temps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Comparatif performances, facteur x90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10058400" cy="54864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6758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4. Pole IA : pipeline Mistral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Prompting, schema JSON,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89120"/>
            <a:ext cx="10058400" cy="54864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4074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5. Pole IA : problemes rencontres et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634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11 incidents documentes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120640"/>
            <a:ext cx="10058400" cy="548640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138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6. Pole IA : resultats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94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Stats, priorites, confiance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852160"/>
            <a:ext cx="10058400" cy="548640"/>
          </a:xfrm>
          <a:prstGeom prst="roundRect">
            <a:avLst/>
          </a:prstGeom>
          <a:solidFill>
            <a:srgbClr val="F5E6C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58704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7. Etat d'avancement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1264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Taux par tache, prochaines etapes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rPr sz="1400"/>
              <a:t>1. Pole Scraping : methodes testees et echecs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103120"/>
          </a:xfrm>
          <a:prstGeom prst="roundRect">
            <a:avLst/>
          </a:prstGeom>
          <a:solidFill>
            <a:srgbClr val="E86C6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rPr sz="1400"/>
              <a:t>Echec 1 : Selenium WebDriver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320" y="17784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7A7A"/>
                </a:solidFill>
              </a:defRPr>
            </a:pPr>
            <a:r>
              <a:rPr sz="1400"/>
              <a:t>Probleme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799" y="1698427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400" dirty="0"/>
            </a:br>
            <a:r>
              <a:rPr sz="1400" dirty="0" err="1"/>
              <a:t>Kompass</a:t>
            </a:r>
            <a:r>
              <a:rPr sz="1400" dirty="0"/>
              <a:t> </a:t>
            </a:r>
            <a:r>
              <a:rPr sz="1400" dirty="0" err="1"/>
              <a:t>detecte</a:t>
            </a:r>
            <a:r>
              <a:rPr sz="1400" dirty="0"/>
              <a:t> Selenium via des scripts JS</a:t>
            </a:r>
            <a:br>
              <a:rPr sz="1400" dirty="0"/>
            </a:br>
            <a:r>
              <a:rPr sz="1400" dirty="0"/>
              <a:t>anti-bot. Le </a:t>
            </a:r>
            <a:r>
              <a:rPr sz="1400" dirty="0" err="1"/>
              <a:t>navigateur</a:t>
            </a:r>
            <a:r>
              <a:rPr sz="1400" dirty="0"/>
              <a:t> Chrome est </a:t>
            </a:r>
            <a:r>
              <a:rPr sz="1400" dirty="0" err="1"/>
              <a:t>bloque</a:t>
            </a:r>
            <a:r>
              <a:rPr sz="1400" dirty="0"/>
              <a:t> des</a:t>
            </a:r>
            <a:br>
              <a:rPr sz="1400" dirty="0"/>
            </a:br>
            <a:r>
              <a:rPr sz="1400" dirty="0"/>
              <a:t>le </a:t>
            </a:r>
            <a:r>
              <a:rPr sz="1400" dirty="0" err="1"/>
              <a:t>chargement</a:t>
            </a:r>
            <a:r>
              <a:rPr sz="1400" dirty="0"/>
              <a:t> de la page. Impossible de</a:t>
            </a:r>
            <a:br>
              <a:rPr sz="1400" dirty="0"/>
            </a:br>
            <a:r>
              <a:rPr sz="1400" dirty="0" err="1"/>
              <a:t>contourner</a:t>
            </a:r>
            <a:r>
              <a:rPr sz="1400" dirty="0"/>
              <a:t> meme avec des options stealth.</a:t>
            </a:r>
            <a:br>
              <a:rPr sz="1400" dirty="0"/>
            </a:br>
            <a:r>
              <a:rPr sz="1400" dirty="0"/>
              <a:t>Solution </a:t>
            </a:r>
            <a:r>
              <a:rPr sz="1400" dirty="0" err="1"/>
              <a:t>testee</a:t>
            </a:r>
            <a:r>
              <a:rPr sz="1400" dirty="0"/>
              <a:t>: undetected-</a:t>
            </a:r>
            <a:r>
              <a:rPr sz="1400" dirty="0" err="1"/>
              <a:t>chromedriver</a:t>
            </a:r>
            <a:r>
              <a:rPr sz="1400" dirty="0"/>
              <a:t> +</a:t>
            </a:r>
            <a:br>
              <a:rPr sz="1400" dirty="0"/>
            </a:br>
            <a:r>
              <a:rPr sz="1400" dirty="0"/>
              <a:t>user-agent </a:t>
            </a:r>
            <a:r>
              <a:rPr sz="1400" dirty="0" err="1"/>
              <a:t>rotatifs</a:t>
            </a:r>
            <a:r>
              <a:rPr sz="1400" dirty="0"/>
              <a:t> -&gt; </a:t>
            </a:r>
            <a:r>
              <a:rPr sz="1400" dirty="0" err="1"/>
              <a:t>toujours</a:t>
            </a:r>
            <a:r>
              <a:rPr sz="1400" dirty="0"/>
              <a:t> </a:t>
            </a:r>
            <a:r>
              <a:rPr sz="1400" dirty="0" err="1"/>
              <a:t>bloque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C6C"/>
                </a:solidFill>
              </a:defRPr>
            </a:pPr>
            <a:r>
              <a:rPr sz="1400"/>
              <a:t>Temps : ~4800 min (bloque)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103120"/>
          </a:xfrm>
          <a:prstGeom prst="roundRect">
            <a:avLst/>
          </a:prstGeom>
          <a:solidFill>
            <a:srgbClr val="E86C6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rPr sz="1400"/>
              <a:t>Echec 2 : Requests + BeautifulSoup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720" y="186225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7A7A"/>
                </a:solidFill>
              </a:defRPr>
            </a:pPr>
            <a:r>
              <a:rPr sz="1400"/>
              <a:t>Probleme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720" y="1905767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400" dirty="0"/>
            </a:br>
            <a:r>
              <a:rPr sz="1400" dirty="0" err="1"/>
              <a:t>Kompass</a:t>
            </a:r>
            <a:r>
              <a:rPr sz="1400" dirty="0"/>
              <a:t> est </a:t>
            </a:r>
            <a:r>
              <a:rPr sz="1400" dirty="0" err="1"/>
              <a:t>une</a:t>
            </a:r>
            <a:r>
              <a:rPr sz="1400" dirty="0"/>
              <a:t> SPA (Single Page Application)</a:t>
            </a:r>
            <a:br>
              <a:rPr sz="1400" dirty="0"/>
            </a:br>
            <a:r>
              <a:rPr sz="1400" dirty="0" err="1"/>
              <a:t>construite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JavaScript. Requests </a:t>
            </a:r>
            <a:r>
              <a:rPr sz="1400" dirty="0" err="1"/>
              <a:t>telecharge</a:t>
            </a:r>
            <a:br>
              <a:rPr sz="1400" dirty="0"/>
            </a:br>
            <a:r>
              <a:rPr sz="1400" dirty="0"/>
              <a:t>le HTML vide, </a:t>
            </a:r>
            <a:r>
              <a:rPr sz="1400" dirty="0" err="1"/>
              <a:t>BeautifulSoup</a:t>
            </a:r>
            <a:r>
              <a:rPr sz="1400" dirty="0"/>
              <a:t> </a:t>
            </a:r>
            <a:r>
              <a:rPr sz="1400" dirty="0" err="1"/>
              <a:t>n'a</a:t>
            </a:r>
            <a:r>
              <a:rPr sz="1400" dirty="0"/>
              <a:t> rien a parser.</a:t>
            </a:r>
            <a:br>
              <a:rPr sz="1400" dirty="0"/>
            </a:br>
            <a:r>
              <a:rPr sz="1400" dirty="0"/>
              <a:t>Le </a:t>
            </a:r>
            <a:r>
              <a:rPr sz="1400" dirty="0" err="1"/>
              <a:t>contenu</a:t>
            </a:r>
            <a:r>
              <a:rPr sz="1400" dirty="0"/>
              <a:t> </a:t>
            </a:r>
            <a:r>
              <a:rPr sz="1400" dirty="0" err="1"/>
              <a:t>n'existe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dans le DOM </a:t>
            </a:r>
            <a:r>
              <a:rPr sz="1400" dirty="0" err="1"/>
              <a:t>apres</a:t>
            </a:r>
            <a:br>
              <a:rPr sz="1400" dirty="0"/>
            </a:br>
            <a:r>
              <a:rPr sz="1400" dirty="0"/>
              <a:t>execution JS. </a:t>
            </a:r>
            <a:r>
              <a:rPr sz="1400" dirty="0" err="1"/>
              <a:t>Aucune</a:t>
            </a:r>
            <a:r>
              <a:rPr sz="1400" dirty="0"/>
              <a:t> </a:t>
            </a:r>
            <a:r>
              <a:rPr sz="1400" dirty="0" err="1"/>
              <a:t>donnee</a:t>
            </a:r>
            <a:r>
              <a:rPr sz="1400" dirty="0"/>
              <a:t> </a:t>
            </a:r>
            <a:r>
              <a:rPr sz="1400" dirty="0" err="1"/>
              <a:t>utilisable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C6C"/>
                </a:solidFill>
              </a:defRPr>
            </a:pPr>
            <a:r>
              <a:rPr sz="1400"/>
              <a:t>Temps : ~9999 min (aucune donnee)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" y="3840480"/>
            <a:ext cx="5242561" cy="2501326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rPr sz="1400" dirty="0" err="1"/>
              <a:t>Echec</a:t>
            </a:r>
            <a:r>
              <a:rPr sz="1400" dirty="0"/>
              <a:t> 3 : Playwright </a:t>
            </a:r>
            <a:r>
              <a:rPr sz="1400" dirty="0" err="1"/>
              <a:t>asynchrone</a:t>
            </a:r>
            <a:r>
              <a:rPr sz="1400" dirty="0"/>
              <a:t> (poli)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7A7A"/>
                </a:solidFill>
              </a:defRPr>
            </a:pPr>
            <a:r>
              <a:rPr sz="1400"/>
              <a:t>Probleme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3164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400" dirty="0"/>
            </a:br>
            <a:r>
              <a:rPr sz="1400" dirty="0"/>
              <a:t>Playwright </a:t>
            </a:r>
            <a:r>
              <a:rPr sz="1400" dirty="0" err="1"/>
              <a:t>fonctionne</a:t>
            </a:r>
            <a:r>
              <a:rPr sz="1400" dirty="0"/>
              <a:t> </a:t>
            </a:r>
            <a:r>
              <a:rPr sz="1400" dirty="0" err="1"/>
              <a:t>techniquement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:</a:t>
            </a:r>
            <a:br>
              <a:rPr sz="1400" dirty="0"/>
            </a:br>
            <a:r>
              <a:rPr sz="1400" dirty="0"/>
              <a:t>- 1 </a:t>
            </a:r>
            <a:r>
              <a:rPr sz="1400" dirty="0" err="1"/>
              <a:t>navigateur</a:t>
            </a:r>
            <a:r>
              <a:rPr sz="1400" dirty="0"/>
              <a:t> = 1 page a la </a:t>
            </a:r>
            <a:r>
              <a:rPr sz="1400" dirty="0" err="1"/>
              <a:t>fois</a:t>
            </a:r>
            <a:br>
              <a:rPr sz="1400" dirty="0"/>
            </a:br>
            <a:r>
              <a:rPr sz="1400" dirty="0"/>
              <a:t>- Temps de </a:t>
            </a:r>
            <a:r>
              <a:rPr sz="1400" dirty="0" err="1"/>
              <a:t>chargement</a:t>
            </a:r>
            <a:r>
              <a:rPr sz="1400" dirty="0"/>
              <a:t> </a:t>
            </a:r>
            <a:r>
              <a:rPr sz="1400" dirty="0" err="1"/>
              <a:t>complet</a:t>
            </a:r>
            <a:r>
              <a:rPr sz="1400" dirty="0"/>
              <a:t> </a:t>
            </a:r>
            <a:r>
              <a:rPr sz="1400" dirty="0" err="1"/>
              <a:t>images+CSS</a:t>
            </a:r>
            <a:br>
              <a:rPr sz="1400" dirty="0"/>
            </a:br>
            <a:r>
              <a:rPr sz="1400" dirty="0"/>
              <a:t>- </a:t>
            </a:r>
            <a:r>
              <a:rPr sz="1400" dirty="0" err="1"/>
              <a:t>Delais</a:t>
            </a:r>
            <a:r>
              <a:rPr sz="1400" dirty="0"/>
              <a:t> de politesse entre </a:t>
            </a:r>
            <a:r>
              <a:rPr sz="1400" dirty="0" err="1"/>
              <a:t>requetes</a:t>
            </a:r>
            <a:br>
              <a:rPr sz="1400" dirty="0"/>
            </a:br>
            <a:r>
              <a:rPr sz="1400" dirty="0"/>
              <a:t>- Detection CAPTCHA </a:t>
            </a:r>
            <a:r>
              <a:rPr sz="1400" dirty="0" err="1"/>
              <a:t>aleatoire</a:t>
            </a:r>
            <a:br>
              <a:rPr sz="1400" dirty="0"/>
            </a:br>
            <a:r>
              <a:rPr sz="1400" dirty="0"/>
              <a:t>- ~30 </a:t>
            </a:r>
            <a:r>
              <a:rPr sz="1400" dirty="0" err="1"/>
              <a:t>secondes</a:t>
            </a:r>
            <a:r>
              <a:rPr sz="1400" dirty="0"/>
              <a:t> par page, ~60h pour 7100 URLs</a:t>
            </a:r>
            <a:br>
              <a:rPr sz="1400" dirty="0"/>
            </a:br>
            <a:r>
              <a:rPr sz="1400" dirty="0"/>
              <a:t>Trop lent pour le volume.</a:t>
            </a:r>
            <a:br>
              <a:rPr sz="1400" dirty="0"/>
            </a:br>
            <a:endParaRPr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D5B5"/>
                </a:solidFill>
              </a:defRPr>
            </a:pPr>
            <a:r>
              <a:rPr sz="1400"/>
              <a:t>Temps : ~3600 min (trop lent)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303520" cy="2501326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rPr sz="1400"/>
              <a:t>Alternative testee : API data.gouv.fr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6445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7A7A"/>
                </a:solidFill>
              </a:defRPr>
            </a:pPr>
            <a:r>
              <a:rPr sz="1400"/>
              <a:t>Probleme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720" y="4069080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400" dirty="0"/>
            </a:br>
            <a:r>
              <a:rPr sz="1400" dirty="0"/>
              <a:t>L'API </a:t>
            </a:r>
            <a:r>
              <a:rPr sz="1400" dirty="0" err="1"/>
              <a:t>publique</a:t>
            </a:r>
            <a:r>
              <a:rPr sz="1400" dirty="0"/>
              <a:t> recherche-</a:t>
            </a:r>
            <a:r>
              <a:rPr sz="1400" dirty="0" err="1"/>
              <a:t>entreprises</a:t>
            </a:r>
            <a:br>
              <a:rPr sz="1400" dirty="0"/>
            </a:br>
            <a:r>
              <a:rPr sz="1400" dirty="0"/>
              <a:t>.data.gouv.fr </a:t>
            </a:r>
            <a:r>
              <a:rPr sz="1400" dirty="0" err="1"/>
              <a:t>permet</a:t>
            </a:r>
            <a:r>
              <a:rPr sz="1400" dirty="0"/>
              <a:t> de </a:t>
            </a:r>
            <a:r>
              <a:rPr sz="1400" dirty="0" err="1"/>
              <a:t>chercher</a:t>
            </a:r>
            <a:r>
              <a:rPr sz="1400" dirty="0"/>
              <a:t> par NAF </a:t>
            </a:r>
            <a:r>
              <a:rPr sz="1400" dirty="0" err="1"/>
              <a:t>mais</a:t>
            </a:r>
            <a:r>
              <a:rPr sz="1400" dirty="0"/>
              <a:t>:</a:t>
            </a:r>
            <a:br>
              <a:rPr sz="1400" dirty="0"/>
            </a:br>
            <a:r>
              <a:rPr sz="1400" dirty="0"/>
              <a:t>- Pas les memes </a:t>
            </a:r>
            <a:r>
              <a:rPr sz="1400" dirty="0" err="1"/>
              <a:t>donnees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Kompass</a:t>
            </a:r>
            <a:br>
              <a:rPr sz="1400" dirty="0"/>
            </a:br>
            <a:r>
              <a:rPr sz="1400" dirty="0"/>
              <a:t>- Pas de site web, telephone, email</a:t>
            </a:r>
            <a:br>
              <a:rPr sz="1400" dirty="0"/>
            </a:br>
            <a:r>
              <a:rPr sz="1400" dirty="0"/>
              <a:t>- </a:t>
            </a:r>
            <a:r>
              <a:rPr sz="1400" dirty="0" err="1"/>
              <a:t>Limite</a:t>
            </a:r>
            <a:r>
              <a:rPr sz="1400" dirty="0"/>
              <a:t> de </a:t>
            </a:r>
            <a:r>
              <a:rPr sz="1400" dirty="0" err="1"/>
              <a:t>requetes</a:t>
            </a:r>
            <a:r>
              <a:rPr sz="1400" dirty="0"/>
              <a:t> (rate limiting)</a:t>
            </a:r>
            <a:br>
              <a:rPr sz="1400" dirty="0"/>
            </a:br>
            <a:r>
              <a:rPr sz="1400" dirty="0"/>
              <a:t>- </a:t>
            </a:r>
            <a:r>
              <a:rPr sz="1400" dirty="0" err="1"/>
              <a:t>Necessite</a:t>
            </a:r>
            <a:r>
              <a:rPr sz="1400" dirty="0"/>
              <a:t> de </a:t>
            </a:r>
            <a:r>
              <a:rPr sz="1400" dirty="0" err="1"/>
              <a:t>connaitre</a:t>
            </a:r>
            <a:r>
              <a:rPr sz="1400" dirty="0"/>
              <a:t> le NAF exact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amont</a:t>
            </a:r>
            <a:br>
              <a:rPr sz="1400" dirty="0"/>
            </a:br>
            <a:r>
              <a:rPr sz="1400" dirty="0"/>
              <a:t>- </a:t>
            </a:r>
            <a:r>
              <a:rPr sz="1400" dirty="0" err="1"/>
              <a:t>Donnees</a:t>
            </a:r>
            <a:r>
              <a:rPr sz="1400" dirty="0"/>
              <a:t> </a:t>
            </a:r>
            <a:r>
              <a:rPr sz="1400" dirty="0" err="1"/>
              <a:t>administratives</a:t>
            </a:r>
            <a:r>
              <a:rPr sz="1400" dirty="0"/>
              <a:t> </a:t>
            </a:r>
            <a:r>
              <a:rPr sz="1400" dirty="0" err="1"/>
              <a:t>seulement</a:t>
            </a:r>
            <a:br>
              <a:rPr sz="1400" dirty="0"/>
            </a:br>
            <a:r>
              <a:rPr sz="1400" dirty="0" err="1"/>
              <a:t>Utilisee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complement, pas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remplacement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2. Solution retenue : DrissionPage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Pourquoi DrissionPage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8" y="1484650"/>
            <a:ext cx="51206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200" dirty="0"/>
            </a:br>
            <a:r>
              <a:rPr sz="1200" dirty="0" err="1"/>
              <a:t>DrissionPage</a:t>
            </a:r>
            <a:r>
              <a:rPr sz="1200" dirty="0"/>
              <a:t> est un fork de Selenium qui :</a:t>
            </a:r>
            <a:br>
              <a:rPr sz="1200" dirty="0"/>
            </a:br>
            <a:r>
              <a:rPr sz="1200" dirty="0"/>
              <a:t>- </a:t>
            </a:r>
            <a:r>
              <a:rPr sz="1200" dirty="0" err="1"/>
              <a:t>Integre</a:t>
            </a:r>
            <a:r>
              <a:rPr sz="1200" dirty="0"/>
              <a:t> son propre driver Chrome (pas </a:t>
            </a:r>
            <a:r>
              <a:rPr sz="1200" dirty="0" err="1"/>
              <a:t>besoin</a:t>
            </a:r>
            <a:br>
              <a:rPr sz="1200" dirty="0"/>
            </a:br>
            <a:r>
              <a:rPr sz="1200" dirty="0"/>
              <a:t>  de chromedriver.exe </a:t>
            </a:r>
            <a:r>
              <a:rPr sz="1200" dirty="0" err="1"/>
              <a:t>separe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- Execute le JS de </a:t>
            </a:r>
            <a:r>
              <a:rPr sz="1200" dirty="0" err="1"/>
              <a:t>Kompass</a:t>
            </a:r>
            <a:r>
              <a:rPr sz="1200" dirty="0"/>
              <a:t> sans </a:t>
            </a:r>
            <a:r>
              <a:rPr sz="1200" dirty="0" err="1"/>
              <a:t>etre</a:t>
            </a:r>
            <a:r>
              <a:rPr sz="1200" dirty="0"/>
              <a:t> </a:t>
            </a:r>
            <a:r>
              <a:rPr sz="1200" dirty="0" err="1"/>
              <a:t>detecte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comme</a:t>
            </a:r>
            <a:r>
              <a:rPr sz="1200" dirty="0"/>
              <a:t> bot (headers HTTP par </a:t>
            </a:r>
            <a:r>
              <a:rPr sz="1200" dirty="0" err="1"/>
              <a:t>defaut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- </a:t>
            </a:r>
            <a:r>
              <a:rPr sz="1200" dirty="0" err="1"/>
              <a:t>Permet</a:t>
            </a:r>
            <a:r>
              <a:rPr sz="1200" dirty="0"/>
              <a:t> le mode EAGER (on </a:t>
            </a:r>
            <a:r>
              <a:rPr sz="1200" dirty="0" err="1"/>
              <a:t>s'arrete</a:t>
            </a:r>
            <a:r>
              <a:rPr sz="1200" dirty="0"/>
              <a:t> au DOM,</a:t>
            </a:r>
            <a:br>
              <a:rPr sz="1200" dirty="0"/>
            </a:br>
            <a:r>
              <a:rPr sz="1200" dirty="0"/>
              <a:t>  pas </a:t>
            </a:r>
            <a:r>
              <a:rPr sz="1200" dirty="0" err="1"/>
              <a:t>d'attente</a:t>
            </a:r>
            <a:r>
              <a:rPr sz="1200" dirty="0"/>
              <a:t> images/CSS/</a:t>
            </a:r>
            <a:r>
              <a:rPr sz="1200" dirty="0" err="1"/>
              <a:t>fontes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- 8 </a:t>
            </a:r>
            <a:r>
              <a:rPr sz="1200" dirty="0" err="1"/>
              <a:t>navigateurs</a:t>
            </a:r>
            <a:r>
              <a:rPr sz="1200" dirty="0"/>
              <a:t> partages dans un pool</a:t>
            </a:r>
            <a:br>
              <a:rPr sz="1200" dirty="0"/>
            </a:br>
            <a:r>
              <a:rPr sz="1200" dirty="0"/>
              <a:t>   -&gt; </a:t>
            </a:r>
            <a:r>
              <a:rPr sz="1200" dirty="0" err="1"/>
              <a:t>economie</a:t>
            </a:r>
            <a:r>
              <a:rPr sz="1200" dirty="0"/>
              <a:t> de RAM (500MB -&gt; 1.2GB)</a:t>
            </a:r>
            <a:br>
              <a:rPr sz="1200" dirty="0"/>
            </a:br>
            <a:r>
              <a:rPr sz="1200" dirty="0"/>
              <a:t>- Extraction par regex sur le HTML brut</a:t>
            </a:r>
            <a:br>
              <a:rPr sz="1200" dirty="0"/>
            </a:br>
            <a:r>
              <a:rPr sz="1200" dirty="0"/>
              <a:t>  (pas de </a:t>
            </a:r>
            <a:r>
              <a:rPr sz="1200" dirty="0" err="1"/>
              <a:t>selecteurs</a:t>
            </a:r>
            <a:r>
              <a:rPr sz="1200" dirty="0"/>
              <a:t> DOM </a:t>
            </a:r>
            <a:r>
              <a:rPr sz="1200" dirty="0" err="1"/>
              <a:t>lents</a:t>
            </a:r>
            <a:r>
              <a:rPr sz="1200" dirty="0"/>
              <a:t>)</a:t>
            </a:r>
            <a:br>
              <a:rPr sz="1200" dirty="0"/>
            </a:br>
            <a:endParaRPr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1E1C1"/>
                </a:solidFill>
              </a:defRPr>
            </a:pPr>
            <a:r>
              <a:t>Avantage cle : non detecte par Kompass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Extraction par regex (vs DOM)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4572000" cy="16459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DOM (lent - 3-5s par page) 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el = page.ele('.siret-value')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siret = el.text if el else ''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Regex (instantanee) 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html = page.html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siret = re.search(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r'SIRET[^:]*:\s*([\d\s]{14,20})',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html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Les selecteurs DOM forcent Chrome a naviguer dans</a:t>
            </a:r>
            <a:br/>
            <a:r>
              <a:t>l'arbre complet du DOM (lent, memoire).</a:t>
            </a:r>
            <a:br/>
            <a:r>
              <a:t>Les regex sont executees en Python directement sur</a:t>
            </a:r>
            <a:br/>
            <a:r>
              <a:t>le HTML deja transfere -&gt; instantane.</a:t>
            </a:r>
            <a:br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029200" cy="237744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Architecture : BrowserPool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389120"/>
            <a:ext cx="4572000" cy="16459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class BrowserPool: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def __init__(self, size):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self._queue = Queue()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for _ in range(size):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  self._queue.put(self._creer())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def obtenir(self):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return self._queue.get()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def rendre(self, page):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self._queue.put(page)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8 navigateurs partages entre 16 workers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Evite 1 browser par thread (3-4 Go RAM)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1E1C1"/>
                </a:solidFill>
              </a:defRPr>
            </a:pPr>
            <a:r>
              <a:t>8 navigateurs partages = 1.2 Go RAM vs 4 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03520" cy="2377440"/>
          </a:xfrm>
          <a:prstGeom prst="roundRect">
            <a:avLst/>
          </a:prstGeom>
          <a:solidFill>
            <a:srgbClr val="F5E6C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Mode EAGER : -60% temps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389120"/>
            <a:ext cx="4572000" cy="16459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 = ChromiumOptions()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co.headless(True)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co.set_argument(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'--page-load-strategy=eager')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co.set_argument(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'--blink-settings=imagesEnabled=false')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co.set_pref(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'managed_default_content_settings.stylesheets', 2)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co.set_pref(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'managed_default_content_settings.fonts', 2)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5943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EAGER = Chrome s'arrete au DOMContentLoaded,</a:t>
            </a:r>
            <a:br/>
            <a:r>
              <a:t>n'attend pas images, CSS, polices, scripts tiers</a:t>
            </a:r>
            <a:br/>
            <a:r>
              <a:t>-&gt; page load en 2-3s au lieu de 8-12s</a:t>
            </a:r>
            <a:br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3. Optimisations temps</a:t>
            </a:r>
          </a:p>
        </p:txBody>
      </p:sp>
      <p:pic>
        <p:nvPicPr>
          <p:cNvPr id="5" name="Picture 4" descr="compara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2535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297680"/>
            <a:ext cx="5029200" cy="201168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t>Optimisations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663440"/>
            <a:ext cx="4572000" cy="13716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WAL mode + synchronous OFF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conn.execute('PRAGMA journal_mode=WAL')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conn.execute('PRAGMA synchronous=OFF')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conn.execute('PRAGMA cache_size=-64000')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conn.execute('PRAGMA temp_store=MEMORY')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Batch commit de 50 lignes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Thread lock partage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1E1C1"/>
                </a:solidFill>
              </a:defRPr>
            </a:pPr>
            <a:r>
              <a:t>Gain ~30% ecritures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303520" cy="201168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t>Export streaming Excel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663440"/>
            <a:ext cx="4572000" cy="13716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xlsxwriter constant_memory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wb = xlsxwriter.Workbook(path,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options={'constant_memory': True})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Ecriture directe (pas de buffer)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ws.write(ligne, colonne, valeur, fmt)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JSONL incremental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with open('data.jsonl','a') as f: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f.write(json.dumps(row)+'\n')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60350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1E1C1"/>
                </a:solidFill>
              </a:defRPr>
            </a:pPr>
            <a:r>
              <a:t>Excel et JSON generes pendant le scraping = 0 temps suppl.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4. Pole IA : Pipeline Mistral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Architecture du pipeline IA</a:t>
            </a:r>
          </a:p>
        </p:txBody>
      </p:sp>
      <p:pic>
        <p:nvPicPr>
          <p:cNvPr id="7" name="Picture 6" descr="pipeline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8244661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737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Schema JSON de sortie (15 champs)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4572000" cy="1737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{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'secteur_ia': enum(14 options: Electronique,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Machines, Logistique, Chimie...),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'sous_secteur_ia': str(60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'domaine_production': str(100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'chaine_valeur': enum(9: Conception R&amp;D,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Integration, Maintenance...),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'produits_services': str(200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'technologies': str(150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'competences_cles': str(150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'parc_machine': str(150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'certifications_normes': str(100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'clients_marches': str(100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'prix_produits': str(80 max),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'potentiel_interet': enum(faible,moyen,fort),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'niveau_priorite': enum(basse,moyenne,haute),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'confidence': float (0-1),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'evidence_resume': str(320 max)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}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2377440"/>
          </a:xfrm>
          <a:prstGeom prst="roundRect">
            <a:avLst/>
          </a:prstGeom>
          <a:solidFill>
            <a:srgbClr val="F5E6C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Extrait du prompt systeme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389120"/>
            <a:ext cx="45720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Tu es un expert en reindustrialisation.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Analyse la fiche entreprise ci-dessous.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SECTEURS autorises (choisis UN seul) 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Electronique et composants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Machines et equipements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Chimie et materiaux avances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Logistique et transport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... (14 au total)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CHAINES DE VALEUR autorisees 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Conception / R&amp;D / bureau d'etudes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Fabrication / production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Integration / installation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Maintenance / reparation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...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CONTRAINTES strictes 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Chaque classification DOIT avoir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une preuve dans evidence_resume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Si pas de preuve -&gt; confidence &lt; 0.5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Priorite haute seulement si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potentiel_interet = 'fort'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- Confiance jamais &gt; 0.8 sans preuve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textuelle directe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03520" cy="2377440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Garde-fous (business rules)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389120"/>
            <a:ext cx="45720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# Exemple de regles de validation 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if reponse['secteur_ia'] not in SECTEURS: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reponse['statut_ia'] = 'erreur'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return reponse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if reponse['potentiel_interet'] == 'fort':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if not est_prouve(reponse['evidence']):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reponse['potentiel'] = 'moyen'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if reponse['niveau_priorite'] == 'haute':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if reponse['potentiel'] != 'fort':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  reponse['priorite'] = 'moyenne'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if reponse['confidence'] &lt; 0.5: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  reponse['statut_ia'] = 'a_revérifier'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5. Pole IA : problemes rencontres et solutions</a:t>
            </a:r>
          </a:p>
        </p:txBody>
      </p:sp>
      <p:pic>
        <p:nvPicPr>
          <p:cNvPr id="5" name="Picture 4" descr="err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6129707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371600"/>
            <a:ext cx="5486400" cy="4572000"/>
          </a:xfrm>
          <a:prstGeom prst="roundRect">
            <a:avLst/>
          </a:prstGeom>
          <a:solidFill>
            <a:srgbClr val="F5E6C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Synthese des 11 incidents documentes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10725"/>
            <a:ext cx="5029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200" dirty="0"/>
            </a:br>
            <a:r>
              <a:rPr sz="1200" dirty="0"/>
              <a:t>1. </a:t>
            </a:r>
            <a:r>
              <a:rPr sz="1200" dirty="0" err="1"/>
              <a:t>Donnees</a:t>
            </a:r>
            <a:r>
              <a:rPr sz="1200" dirty="0"/>
              <a:t> </a:t>
            </a:r>
            <a:r>
              <a:rPr sz="1200" dirty="0" err="1"/>
              <a:t>heterogenes</a:t>
            </a:r>
            <a:r>
              <a:rPr sz="1200" dirty="0"/>
              <a:t> : HTML variable </a:t>
            </a:r>
            <a:r>
              <a:rPr sz="1200" dirty="0" err="1"/>
              <a:t>selon</a:t>
            </a:r>
            <a:r>
              <a:rPr sz="1200" dirty="0"/>
              <a:t> les pages</a:t>
            </a:r>
            <a:br>
              <a:rPr sz="1200" dirty="0"/>
            </a:br>
            <a:r>
              <a:rPr sz="1200" dirty="0"/>
              <a:t>   -&gt; Extraction par couches (regex </a:t>
            </a:r>
            <a:r>
              <a:rPr sz="1200" dirty="0" err="1"/>
              <a:t>prioritaire</a:t>
            </a:r>
            <a:r>
              <a:rPr sz="1200" dirty="0"/>
              <a:t>, fallback DOM)</a:t>
            </a:r>
            <a:br>
              <a:rPr sz="1200" dirty="0"/>
            </a:br>
            <a:r>
              <a:rPr sz="1200" dirty="0"/>
              <a:t>2. Texte web </a:t>
            </a:r>
            <a:r>
              <a:rPr sz="1200" dirty="0" err="1"/>
              <a:t>manquant</a:t>
            </a:r>
            <a:r>
              <a:rPr sz="1200" dirty="0"/>
              <a:t> : sites vides </a:t>
            </a:r>
            <a:r>
              <a:rPr sz="1200" dirty="0" err="1"/>
              <a:t>ou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erreur</a:t>
            </a:r>
            <a:br>
              <a:rPr sz="1200" dirty="0"/>
            </a:br>
            <a:r>
              <a:rPr sz="1200" dirty="0"/>
              <a:t>   -&gt; Fallback sur le </a:t>
            </a:r>
            <a:r>
              <a:rPr sz="1200" dirty="0" err="1"/>
              <a:t>texte</a:t>
            </a:r>
            <a:r>
              <a:rPr sz="1200" dirty="0"/>
              <a:t> </a:t>
            </a:r>
            <a:r>
              <a:rPr sz="1200" dirty="0" err="1"/>
              <a:t>collecte</a:t>
            </a:r>
            <a:r>
              <a:rPr sz="1200" dirty="0"/>
              <a:t> par le scraper</a:t>
            </a:r>
            <a:br>
              <a:rPr sz="1200" dirty="0"/>
            </a:br>
            <a:r>
              <a:rPr sz="1200" dirty="0"/>
              <a:t>3. Texte </a:t>
            </a:r>
            <a:r>
              <a:rPr sz="1200" dirty="0" err="1"/>
              <a:t>tronque</a:t>
            </a:r>
            <a:r>
              <a:rPr sz="1200" dirty="0"/>
              <a:t> : </a:t>
            </a:r>
            <a:r>
              <a:rPr sz="1200" dirty="0" err="1"/>
              <a:t>depassement</a:t>
            </a:r>
            <a:r>
              <a:rPr sz="1200" dirty="0"/>
              <a:t> </a:t>
            </a:r>
            <a:r>
              <a:rPr sz="1200" dirty="0" err="1"/>
              <a:t>fenetre</a:t>
            </a:r>
            <a:r>
              <a:rPr sz="1200" dirty="0"/>
              <a:t> </a:t>
            </a:r>
            <a:r>
              <a:rPr sz="1200" dirty="0" err="1"/>
              <a:t>contexte</a:t>
            </a:r>
            <a:r>
              <a:rPr sz="1200" dirty="0"/>
              <a:t> 4096 tokens</a:t>
            </a:r>
            <a:br>
              <a:rPr sz="1200" dirty="0"/>
            </a:br>
            <a:r>
              <a:rPr sz="1200" dirty="0"/>
              <a:t>   -&gt; </a:t>
            </a:r>
            <a:r>
              <a:rPr sz="1200" dirty="0" err="1"/>
              <a:t>Troncature</a:t>
            </a:r>
            <a:r>
              <a:rPr sz="1200" dirty="0"/>
              <a:t> </a:t>
            </a:r>
            <a:r>
              <a:rPr sz="1200" dirty="0" err="1"/>
              <a:t>intelligente</a:t>
            </a:r>
            <a:r>
              <a:rPr sz="1200" dirty="0"/>
              <a:t> (debut + fin du </a:t>
            </a:r>
            <a:r>
              <a:rPr sz="1200" dirty="0" err="1"/>
              <a:t>texte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4. JSON </a:t>
            </a:r>
            <a:r>
              <a:rPr sz="1200" dirty="0" err="1"/>
              <a:t>invalide</a:t>
            </a:r>
            <a:r>
              <a:rPr sz="1200" dirty="0"/>
              <a:t> : Mistral </a:t>
            </a:r>
            <a:r>
              <a:rPr sz="1200" dirty="0" err="1"/>
              <a:t>repond</a:t>
            </a:r>
            <a:r>
              <a:rPr sz="1200" dirty="0"/>
              <a:t> hors format</a:t>
            </a:r>
            <a:br>
              <a:rPr sz="1200" dirty="0"/>
            </a:br>
            <a:r>
              <a:rPr sz="1200" dirty="0"/>
              <a:t>   -&gt; Retry auto 3x + parsing </a:t>
            </a:r>
            <a:r>
              <a:rPr sz="1200" dirty="0" err="1"/>
              <a:t>robuste</a:t>
            </a:r>
            <a:br>
              <a:rPr sz="1200" dirty="0"/>
            </a:br>
            <a:r>
              <a:rPr sz="1200" dirty="0"/>
              <a:t>5. Evidence </a:t>
            </a:r>
            <a:r>
              <a:rPr sz="1200" dirty="0" err="1"/>
              <a:t>tronquee</a:t>
            </a:r>
            <a:r>
              <a:rPr sz="1200" dirty="0"/>
              <a:t> : </a:t>
            </a:r>
            <a:r>
              <a:rPr sz="1200" dirty="0" err="1"/>
              <a:t>reponse</a:t>
            </a:r>
            <a:r>
              <a:rPr sz="1200" dirty="0"/>
              <a:t> coupee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cours</a:t>
            </a:r>
            <a:r>
              <a:rPr sz="1200" dirty="0"/>
              <a:t> de route</a:t>
            </a:r>
            <a:br>
              <a:rPr sz="1200" dirty="0"/>
            </a:br>
            <a:r>
              <a:rPr sz="1200" dirty="0"/>
              <a:t>   -&gt; </a:t>
            </a:r>
            <a:r>
              <a:rPr sz="1200" dirty="0" err="1"/>
              <a:t>Ajustement</a:t>
            </a:r>
            <a:r>
              <a:rPr sz="1200" dirty="0"/>
              <a:t> </a:t>
            </a:r>
            <a:r>
              <a:rPr sz="1200" dirty="0" err="1"/>
              <a:t>max_tokens</a:t>
            </a:r>
            <a:r>
              <a:rPr sz="1200" dirty="0"/>
              <a:t> (650 -&gt; 800)</a:t>
            </a:r>
            <a:br>
              <a:rPr sz="1200" dirty="0"/>
            </a:br>
            <a:r>
              <a:rPr sz="1200" dirty="0"/>
              <a:t>6. Categories non </a:t>
            </a:r>
            <a:r>
              <a:rPr sz="1200" dirty="0" err="1"/>
              <a:t>normalisees</a:t>
            </a:r>
            <a:r>
              <a:rPr sz="1200" dirty="0"/>
              <a:t> : noms de </a:t>
            </a:r>
            <a:r>
              <a:rPr sz="1200" dirty="0" err="1"/>
              <a:t>secteurs</a:t>
            </a:r>
            <a:r>
              <a:rPr sz="1200" dirty="0"/>
              <a:t> varies</a:t>
            </a:r>
            <a:br>
              <a:rPr sz="1200" dirty="0"/>
            </a:br>
            <a:r>
              <a:rPr sz="1200" dirty="0"/>
              <a:t>   -&gt; Enums </a:t>
            </a:r>
            <a:r>
              <a:rPr sz="1200" dirty="0" err="1"/>
              <a:t>stricts</a:t>
            </a:r>
            <a:r>
              <a:rPr sz="1200" dirty="0"/>
              <a:t> + mapping post-</a:t>
            </a:r>
            <a:r>
              <a:rPr sz="1200" dirty="0" err="1"/>
              <a:t>traitement</a:t>
            </a:r>
            <a:br>
              <a:rPr sz="1200" dirty="0"/>
            </a:br>
            <a:r>
              <a:rPr sz="1200" dirty="0"/>
              <a:t>7. </a:t>
            </a:r>
            <a:r>
              <a:rPr sz="1200" dirty="0" err="1"/>
              <a:t>Interet</a:t>
            </a:r>
            <a:r>
              <a:rPr sz="1200" dirty="0"/>
              <a:t> trop </a:t>
            </a:r>
            <a:r>
              <a:rPr sz="1200" dirty="0" err="1"/>
              <a:t>genereux</a:t>
            </a:r>
            <a:r>
              <a:rPr sz="1200" dirty="0"/>
              <a:t> : tout </a:t>
            </a:r>
            <a:r>
              <a:rPr sz="1200" dirty="0" err="1"/>
              <a:t>classifie</a:t>
            </a:r>
            <a:r>
              <a:rPr sz="1200" dirty="0"/>
              <a:t> 'fort'</a:t>
            </a:r>
            <a:br>
              <a:rPr sz="1200" dirty="0"/>
            </a:br>
            <a:r>
              <a:rPr sz="1200" dirty="0"/>
              <a:t>   -&gt; </a:t>
            </a:r>
            <a:r>
              <a:rPr sz="1200" dirty="0" err="1"/>
              <a:t>Renforcement</a:t>
            </a:r>
            <a:r>
              <a:rPr sz="1200" dirty="0"/>
              <a:t> des </a:t>
            </a:r>
            <a:r>
              <a:rPr sz="1200" dirty="0" err="1"/>
              <a:t>criteres</a:t>
            </a:r>
            <a:r>
              <a:rPr sz="1200" dirty="0"/>
              <a:t> dans le prompt</a:t>
            </a:r>
            <a:br>
              <a:rPr sz="1200" dirty="0"/>
            </a:br>
            <a:r>
              <a:rPr sz="1200" dirty="0"/>
              <a:t>8. Temps de </a:t>
            </a:r>
            <a:r>
              <a:rPr sz="1200" dirty="0" err="1"/>
              <a:t>calcul</a:t>
            </a:r>
            <a:r>
              <a:rPr sz="1200" dirty="0"/>
              <a:t> long : 11.6s par unite</a:t>
            </a:r>
            <a:br>
              <a:rPr sz="1200" dirty="0"/>
            </a:br>
            <a:r>
              <a:rPr sz="1200" dirty="0"/>
              <a:t>   -&gt; Acceptable pour 1100, critique pour 100k</a:t>
            </a:r>
            <a:br>
              <a:rPr sz="1200" dirty="0"/>
            </a:br>
            <a:r>
              <a:rPr sz="1200" dirty="0"/>
              <a:t>9. Temperature GPU : </a:t>
            </a:r>
            <a:r>
              <a:rPr sz="1200" dirty="0" err="1"/>
              <a:t>Ollama</a:t>
            </a:r>
            <a:r>
              <a:rPr sz="1200" dirty="0"/>
              <a:t> </a:t>
            </a:r>
            <a:r>
              <a:rPr sz="1200" dirty="0" err="1"/>
              <a:t>surchauffe</a:t>
            </a:r>
            <a:br>
              <a:rPr sz="1200" dirty="0"/>
            </a:br>
            <a:r>
              <a:rPr sz="1200" dirty="0"/>
              <a:t>   -&gt; Pause de 2s entre </a:t>
            </a:r>
            <a:r>
              <a:rPr sz="1200" dirty="0" err="1"/>
              <a:t>chaque</a:t>
            </a:r>
            <a:r>
              <a:rPr sz="1200" dirty="0"/>
              <a:t> </a:t>
            </a:r>
            <a:r>
              <a:rPr sz="1200" dirty="0" err="1"/>
              <a:t>requete</a:t>
            </a:r>
            <a:br>
              <a:rPr sz="1200" dirty="0"/>
            </a:br>
            <a:r>
              <a:rPr sz="1200" dirty="0"/>
              <a:t>10. </a:t>
            </a:r>
            <a:r>
              <a:rPr sz="1200" dirty="0" err="1"/>
              <a:t>Encodage</a:t>
            </a:r>
            <a:r>
              <a:rPr sz="1200" dirty="0"/>
              <a:t> UTF-8 : </a:t>
            </a:r>
            <a:r>
              <a:rPr sz="1200" dirty="0" err="1"/>
              <a:t>caracteres</a:t>
            </a:r>
            <a:r>
              <a:rPr sz="1200" dirty="0"/>
              <a:t> </a:t>
            </a:r>
            <a:r>
              <a:rPr sz="1200" dirty="0" err="1"/>
              <a:t>accentues</a:t>
            </a:r>
            <a:r>
              <a:rPr sz="1200" dirty="0"/>
              <a:t> mal </a:t>
            </a:r>
            <a:r>
              <a:rPr sz="1200" dirty="0" err="1"/>
              <a:t>interpretes</a:t>
            </a:r>
            <a:br>
              <a:rPr sz="1200" dirty="0"/>
            </a:br>
            <a:r>
              <a:rPr sz="1200" dirty="0"/>
              <a:t>    -&gt; utf-8-sig </a:t>
            </a:r>
            <a:r>
              <a:rPr sz="1200" dirty="0" err="1"/>
              <a:t>en</a:t>
            </a:r>
            <a:r>
              <a:rPr sz="1200" dirty="0"/>
              <a:t> lecture, </a:t>
            </a:r>
            <a:r>
              <a:rPr sz="1200" dirty="0" err="1"/>
              <a:t>ensure_ascii</a:t>
            </a:r>
            <a:r>
              <a:rPr sz="1200" dirty="0"/>
              <a:t>=False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ecriture</a:t>
            </a:r>
            <a:br>
              <a:rPr sz="1200" dirty="0"/>
            </a:br>
            <a:r>
              <a:rPr sz="1200" dirty="0"/>
              <a:t>11. </a:t>
            </a:r>
            <a:r>
              <a:rPr sz="1200" dirty="0" err="1"/>
              <a:t>Doublons</a:t>
            </a:r>
            <a:r>
              <a:rPr sz="1200" dirty="0"/>
              <a:t> </a:t>
            </a:r>
            <a:r>
              <a:rPr sz="1200" dirty="0" err="1"/>
              <a:t>d'analyse</a:t>
            </a:r>
            <a:r>
              <a:rPr sz="1200" dirty="0"/>
              <a:t> : meme </a:t>
            </a:r>
            <a:r>
              <a:rPr sz="1200" dirty="0" err="1"/>
              <a:t>entreprise</a:t>
            </a:r>
            <a:r>
              <a:rPr sz="1200" dirty="0"/>
              <a:t> </a:t>
            </a:r>
            <a:r>
              <a:rPr sz="1200" dirty="0" err="1"/>
              <a:t>traitee</a:t>
            </a:r>
            <a:r>
              <a:rPr sz="1200" dirty="0"/>
              <a:t> 2 </a:t>
            </a:r>
            <a:r>
              <a:rPr sz="1200" dirty="0" err="1"/>
              <a:t>fois</a:t>
            </a:r>
            <a:br>
              <a:rPr sz="1200" dirty="0"/>
            </a:br>
            <a:r>
              <a:rPr sz="1200" dirty="0"/>
              <a:t>    -&gt; Deduplication par </a:t>
            </a:r>
            <a:r>
              <a:rPr sz="1200" dirty="0" err="1"/>
              <a:t>id_ia</a:t>
            </a:r>
            <a:r>
              <a:rPr sz="1200" dirty="0"/>
              <a:t> dans le pipeline</a:t>
            </a:r>
            <a:br>
              <a:rPr sz="1200" dirty="0"/>
            </a:br>
            <a:endParaRPr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6. Pole IA : resultats</a:t>
            </a:r>
          </a:p>
        </p:txBody>
      </p:sp>
      <p:pic>
        <p:nvPicPr>
          <p:cNvPr id="5" name="Picture 4" descr="ia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662417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114800"/>
            <a:ext cx="5029200" cy="210312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t>Exemple de fiche analysee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572000"/>
            <a:ext cx="4572000" cy="15544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Entreprise : 01 SYSTEM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SIREN : 504228271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Secteur IA : Informatique industrielle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Sous-secteur : Cybersecurite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Chaine valeur : Conception R&amp;D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Technos : IA, Cyber, Datacenter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Interet : FORT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Priorite : HAUTE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Confiance : 0.85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Preuve : "Solutions electroniques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et IA, certifie ISO, client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r>
              <a:t>Defense et industrie lourde"</a:t>
            </a:r>
          </a:p>
          <a:p>
            <a:pPr>
              <a:defRPr sz="700">
                <a:solidFill>
                  <a:srgbClr val="A8D8EA"/>
                </a:solidFill>
                <a:latin typeface="Courier New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303520" cy="2103120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t>Fichiers generes par l'IA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companies_enriched.csv (1.4 Mo, 1100 lignes)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46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evidence.csv (391 Ko, preuves chaque analyse)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companies_enriched.xlsx (xlsxwriter)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394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companies_enriched.db (SQLite Power BI)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669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rapport_performance_ia.md (stats detaillees)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943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schema_sortie_ia.json (15 champs, enums stricts)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5" y="292018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7. Etat d'avancement global et prochaines etapes</a:t>
            </a:r>
          </a:p>
        </p:txBody>
      </p:sp>
      <p:pic>
        <p:nvPicPr>
          <p:cNvPr id="5" name="Picture 4" descr="ava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371" y="2023970"/>
            <a:ext cx="6365735" cy="26674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Gestion fenetre de contexte pour textes longs (&gt;4096 tokens)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7A"/>
                </a:solidFill>
              </a:defRPr>
            </a:pPr>
            <a:r>
              <a:t>- Test API cloud (OpenAI/Mistral) si client autorise donnees externes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3361" y="5070987"/>
            <a:ext cx="10789920" cy="91440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t>Rappel calendaire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647" y="539102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r>
              <a:rPr dirty="0"/>
              <a:t>Juin 2026 : Test </a:t>
            </a:r>
            <a:r>
              <a:rPr dirty="0" err="1"/>
              <a:t>montee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charge IA + </a:t>
            </a:r>
            <a:r>
              <a:rPr dirty="0" err="1"/>
              <a:t>connexion</a:t>
            </a:r>
            <a:r>
              <a:rPr dirty="0"/>
              <a:t> Power BI | Sep-Nov 2026 : T4 auto-reparation | Sep 2026-Jan 2027 : T5 Power BI + </a:t>
            </a:r>
            <a:r>
              <a:rPr dirty="0" err="1"/>
              <a:t>Streamlit</a:t>
            </a:r>
            <a:r>
              <a:rPr dirty="0"/>
              <a:t> + livraison finale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2011680"/>
            <a:ext cx="6705295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D3D3D"/>
                </a:solidFill>
              </a:defRPr>
            </a:pPr>
            <a: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A7A"/>
                </a:solidFill>
              </a:defRPr>
            </a:pPr>
            <a:r>
              <a:t>Scraping : 7 generations de scripts, facteur d'acceleration x90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A7A"/>
                </a:solidFill>
              </a:defRPr>
            </a:pPr>
            <a:r>
              <a:t>IA : 1100 entreprises analysees, 100% succes, 0 erreur, pipeline robuste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4A573"/>
                </a:solidFill>
              </a:defRPr>
            </a:pPr>
            <a:r>
              <a:t>Prochaine etape : montee en charge 7100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7A7A"/>
                </a:solidFill>
              </a:defRPr>
            </a:pPr>
            <a:r>
              <a:t>Equipe : Louison, Rana, Yessine, Cisco, Isidore, J-Baptiste, Zhongman, Paul, 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1943</Words>
  <Application>Microsoft Office PowerPoint</Application>
  <PresentationFormat>Grand écran</PresentationFormat>
  <Paragraphs>209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Rana AMRI</dc:creator>
  <cp:keywords/>
  <dc:description>generated using python-pptx</dc:description>
  <cp:lastModifiedBy>RANA AMRI</cp:lastModifiedBy>
  <cp:revision>2</cp:revision>
  <dcterms:created xsi:type="dcterms:W3CDTF">2013-01-27T09:14:16Z</dcterms:created>
  <dcterms:modified xsi:type="dcterms:W3CDTF">2026-06-03T18:35:30Z</dcterms:modified>
  <cp:category/>
</cp:coreProperties>
</file>